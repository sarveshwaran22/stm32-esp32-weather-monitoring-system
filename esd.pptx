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62" r:id="rId4"/>
    <p:sldId id="258" r:id="rId5"/>
    <p:sldId id="263" r:id="rId6"/>
    <p:sldId id="265" r:id="rId7"/>
    <p:sldId id="260" r:id="rId8"/>
    <p:sldId id="261" r:id="rId9"/>
    <p:sldId id="268" r:id="rId10"/>
    <p:sldId id="269" r:id="rId11"/>
    <p:sldId id="27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0EEF0E-2722-4973-A91B-4F943A34A98C}" v="24" dt="2025-11-05T08:47:49.9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3EE1B5-5152-4379-AE91-D8D88235B024}" type="datetimeFigureOut">
              <a:rPr lang="en-US" smtClean="0"/>
              <a:t>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151D4A-08EB-44F0-A904-C452A6E68A51}" type="slidenum">
              <a:rPr lang="en-US" smtClean="0"/>
              <a:t>‹#›</a:t>
            </a:fld>
            <a:endParaRPr lang="en-US"/>
          </a:p>
        </p:txBody>
      </p:sp>
    </p:spTree>
    <p:extLst>
      <p:ext uri="{BB962C8B-B14F-4D97-AF65-F5344CB8AC3E}">
        <p14:creationId xmlns:p14="http://schemas.microsoft.com/office/powerpoint/2010/main" val="3678382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5CC06-0EC0-AF9E-4731-098AABE6E7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08D01BF-A4BF-55D2-BD29-F2D37642FE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4A1C6FF-EF75-4B2E-4110-3C8F87E214B4}"/>
              </a:ext>
            </a:extLst>
          </p:cNvPr>
          <p:cNvSpPr>
            <a:spLocks noGrp="1"/>
          </p:cNvSpPr>
          <p:nvPr>
            <p:ph type="dt" sz="half" idx="10"/>
          </p:nvPr>
        </p:nvSpPr>
        <p:spPr/>
        <p:txBody>
          <a:bodyPr/>
          <a:lstStyle/>
          <a:p>
            <a:fld id="{88C6A441-DFA8-4FD1-BCD4-9F98A351EB8F}" type="datetime1">
              <a:rPr lang="en-IN" smtClean="0"/>
              <a:t>08-11-2025</a:t>
            </a:fld>
            <a:endParaRPr lang="en-IN"/>
          </a:p>
        </p:txBody>
      </p:sp>
      <p:sp>
        <p:nvSpPr>
          <p:cNvPr id="5" name="Footer Placeholder 4">
            <a:extLst>
              <a:ext uri="{FF2B5EF4-FFF2-40B4-BE49-F238E27FC236}">
                <a16:creationId xmlns:a16="http://schemas.microsoft.com/office/drawing/2014/main" id="{008DED45-CAFC-E91A-2CBA-7D93B66FFF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FBF461-DFE3-1ABB-7975-37538975404B}"/>
              </a:ext>
            </a:extLst>
          </p:cNvPr>
          <p:cNvSpPr>
            <a:spLocks noGrp="1"/>
          </p:cNvSpPr>
          <p:nvPr>
            <p:ph type="sldNum" sz="quarter" idx="12"/>
          </p:nvPr>
        </p:nvSpPr>
        <p:spPr/>
        <p:txBody>
          <a:bodyPr/>
          <a:lstStyle/>
          <a:p>
            <a:fld id="{7CDFB2E1-A240-42B0-B01C-5FB898363E65}" type="slidenum">
              <a:rPr lang="en-IN" smtClean="0"/>
              <a:t>‹#›</a:t>
            </a:fld>
            <a:endParaRPr lang="en-IN"/>
          </a:p>
        </p:txBody>
      </p:sp>
    </p:spTree>
    <p:extLst>
      <p:ext uri="{BB962C8B-B14F-4D97-AF65-F5344CB8AC3E}">
        <p14:creationId xmlns:p14="http://schemas.microsoft.com/office/powerpoint/2010/main" val="160126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124D8-B84A-8D7D-E42C-A18F4D3D2F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EEF082-C2D5-077E-0FA3-33736204D4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192D40-5871-A8A0-AB41-BB50054D4E28}"/>
              </a:ext>
            </a:extLst>
          </p:cNvPr>
          <p:cNvSpPr>
            <a:spLocks noGrp="1"/>
          </p:cNvSpPr>
          <p:nvPr>
            <p:ph type="dt" sz="half" idx="10"/>
          </p:nvPr>
        </p:nvSpPr>
        <p:spPr/>
        <p:txBody>
          <a:bodyPr/>
          <a:lstStyle/>
          <a:p>
            <a:fld id="{4F2E34CF-839E-43EF-AC7C-CE062C3B0B66}" type="datetime1">
              <a:rPr lang="en-IN" smtClean="0"/>
              <a:t>08-11-2025</a:t>
            </a:fld>
            <a:endParaRPr lang="en-IN"/>
          </a:p>
        </p:txBody>
      </p:sp>
      <p:sp>
        <p:nvSpPr>
          <p:cNvPr id="5" name="Footer Placeholder 4">
            <a:extLst>
              <a:ext uri="{FF2B5EF4-FFF2-40B4-BE49-F238E27FC236}">
                <a16:creationId xmlns:a16="http://schemas.microsoft.com/office/drawing/2014/main" id="{BFB204EE-C1B6-9032-8F9B-F2E21D6B72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0DDAD0-BDFC-7C58-98CE-3D4C94C07A83}"/>
              </a:ext>
            </a:extLst>
          </p:cNvPr>
          <p:cNvSpPr>
            <a:spLocks noGrp="1"/>
          </p:cNvSpPr>
          <p:nvPr>
            <p:ph type="sldNum" sz="quarter" idx="12"/>
          </p:nvPr>
        </p:nvSpPr>
        <p:spPr/>
        <p:txBody>
          <a:bodyPr/>
          <a:lstStyle/>
          <a:p>
            <a:fld id="{7CDFB2E1-A240-42B0-B01C-5FB898363E65}" type="slidenum">
              <a:rPr lang="en-IN" smtClean="0"/>
              <a:t>‹#›</a:t>
            </a:fld>
            <a:endParaRPr lang="en-IN"/>
          </a:p>
        </p:txBody>
      </p:sp>
    </p:spTree>
    <p:extLst>
      <p:ext uri="{BB962C8B-B14F-4D97-AF65-F5344CB8AC3E}">
        <p14:creationId xmlns:p14="http://schemas.microsoft.com/office/powerpoint/2010/main" val="4269155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B9D0B-B8E9-2011-21E4-FB8165A637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8E392C6-15A5-0289-5107-36EFA34FB2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F33B0E-114D-758C-55CA-B491DDD73DC0}"/>
              </a:ext>
            </a:extLst>
          </p:cNvPr>
          <p:cNvSpPr>
            <a:spLocks noGrp="1"/>
          </p:cNvSpPr>
          <p:nvPr>
            <p:ph type="dt" sz="half" idx="10"/>
          </p:nvPr>
        </p:nvSpPr>
        <p:spPr/>
        <p:txBody>
          <a:bodyPr/>
          <a:lstStyle/>
          <a:p>
            <a:fld id="{AC117F29-4012-4623-BE9A-D68E582D41E7}" type="datetime1">
              <a:rPr lang="en-IN" smtClean="0"/>
              <a:t>08-11-2025</a:t>
            </a:fld>
            <a:endParaRPr lang="en-IN"/>
          </a:p>
        </p:txBody>
      </p:sp>
      <p:sp>
        <p:nvSpPr>
          <p:cNvPr id="5" name="Footer Placeholder 4">
            <a:extLst>
              <a:ext uri="{FF2B5EF4-FFF2-40B4-BE49-F238E27FC236}">
                <a16:creationId xmlns:a16="http://schemas.microsoft.com/office/drawing/2014/main" id="{1A767EF4-DF6E-D2D8-2920-F4469DD311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82A08A-81B2-5BD3-10C0-E2F5FC3FC399}"/>
              </a:ext>
            </a:extLst>
          </p:cNvPr>
          <p:cNvSpPr>
            <a:spLocks noGrp="1"/>
          </p:cNvSpPr>
          <p:nvPr>
            <p:ph type="sldNum" sz="quarter" idx="12"/>
          </p:nvPr>
        </p:nvSpPr>
        <p:spPr/>
        <p:txBody>
          <a:bodyPr/>
          <a:lstStyle/>
          <a:p>
            <a:fld id="{7CDFB2E1-A240-42B0-B01C-5FB898363E65}" type="slidenum">
              <a:rPr lang="en-IN" smtClean="0"/>
              <a:t>‹#›</a:t>
            </a:fld>
            <a:endParaRPr lang="en-IN"/>
          </a:p>
        </p:txBody>
      </p:sp>
    </p:spTree>
    <p:extLst>
      <p:ext uri="{BB962C8B-B14F-4D97-AF65-F5344CB8AC3E}">
        <p14:creationId xmlns:p14="http://schemas.microsoft.com/office/powerpoint/2010/main" val="3456634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8B3E3-910A-AF6B-F8B5-3DB25056B0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AFA0E9-1C40-8856-5E07-AE22EE7B77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93D418-5EA7-E9B4-FC1A-BFAACAE24B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D3C46A4-B39D-5B49-752A-B9D3B238EA45}"/>
              </a:ext>
            </a:extLst>
          </p:cNvPr>
          <p:cNvSpPr>
            <a:spLocks noGrp="1"/>
          </p:cNvSpPr>
          <p:nvPr>
            <p:ph type="dt" sz="half" idx="10"/>
          </p:nvPr>
        </p:nvSpPr>
        <p:spPr/>
        <p:txBody>
          <a:bodyPr/>
          <a:lstStyle/>
          <a:p>
            <a:fld id="{0AA94571-0C55-487B-BBD5-E109871A8165}" type="datetime1">
              <a:rPr lang="en-IN" smtClean="0"/>
              <a:t>08-11-2025</a:t>
            </a:fld>
            <a:endParaRPr lang="en-IN"/>
          </a:p>
        </p:txBody>
      </p:sp>
      <p:sp>
        <p:nvSpPr>
          <p:cNvPr id="6" name="Footer Placeholder 5">
            <a:extLst>
              <a:ext uri="{FF2B5EF4-FFF2-40B4-BE49-F238E27FC236}">
                <a16:creationId xmlns:a16="http://schemas.microsoft.com/office/drawing/2014/main" id="{3F6C2DC7-3240-3DAE-E0F1-8A5C2B2283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2ADA1E-71DE-D465-59A6-BACE0FAB9C62}"/>
              </a:ext>
            </a:extLst>
          </p:cNvPr>
          <p:cNvSpPr>
            <a:spLocks noGrp="1"/>
          </p:cNvSpPr>
          <p:nvPr>
            <p:ph type="sldNum" sz="quarter" idx="12"/>
          </p:nvPr>
        </p:nvSpPr>
        <p:spPr/>
        <p:txBody>
          <a:bodyPr/>
          <a:lstStyle/>
          <a:p>
            <a:fld id="{7CDFB2E1-A240-42B0-B01C-5FB898363E65}" type="slidenum">
              <a:rPr lang="en-IN" smtClean="0"/>
              <a:t>‹#›</a:t>
            </a:fld>
            <a:endParaRPr lang="en-IN"/>
          </a:p>
        </p:txBody>
      </p:sp>
    </p:spTree>
    <p:extLst>
      <p:ext uri="{BB962C8B-B14F-4D97-AF65-F5344CB8AC3E}">
        <p14:creationId xmlns:p14="http://schemas.microsoft.com/office/powerpoint/2010/main" val="3411745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7CB0A-CD59-37E2-2106-FBFC1886E83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73B6E2-85BB-6334-8B2D-CF4CC7DB51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9F4AB6-D1AC-26BF-024A-9FC565FA5A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854EC1F-AEE3-F228-7343-F7122DD9BF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77CBDA-DDEC-735E-1404-F57EB2E2E5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93472F0-6DCC-11E3-8DBA-6684571A6295}"/>
              </a:ext>
            </a:extLst>
          </p:cNvPr>
          <p:cNvSpPr>
            <a:spLocks noGrp="1"/>
          </p:cNvSpPr>
          <p:nvPr>
            <p:ph type="dt" sz="half" idx="10"/>
          </p:nvPr>
        </p:nvSpPr>
        <p:spPr/>
        <p:txBody>
          <a:bodyPr/>
          <a:lstStyle/>
          <a:p>
            <a:fld id="{9709970A-47DF-479F-948F-0D2971BB8295}" type="datetime1">
              <a:rPr lang="en-IN" smtClean="0"/>
              <a:t>08-11-2025</a:t>
            </a:fld>
            <a:endParaRPr lang="en-IN"/>
          </a:p>
        </p:txBody>
      </p:sp>
      <p:sp>
        <p:nvSpPr>
          <p:cNvPr id="8" name="Footer Placeholder 7">
            <a:extLst>
              <a:ext uri="{FF2B5EF4-FFF2-40B4-BE49-F238E27FC236}">
                <a16:creationId xmlns:a16="http://schemas.microsoft.com/office/drawing/2014/main" id="{0A34427B-47EC-F92F-2C28-3768E6AA696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2A9C10B-836C-2795-46B0-78DF58A57AD7}"/>
              </a:ext>
            </a:extLst>
          </p:cNvPr>
          <p:cNvSpPr>
            <a:spLocks noGrp="1"/>
          </p:cNvSpPr>
          <p:nvPr>
            <p:ph type="sldNum" sz="quarter" idx="12"/>
          </p:nvPr>
        </p:nvSpPr>
        <p:spPr/>
        <p:txBody>
          <a:bodyPr/>
          <a:lstStyle/>
          <a:p>
            <a:fld id="{7CDFB2E1-A240-42B0-B01C-5FB898363E65}" type="slidenum">
              <a:rPr lang="en-IN" smtClean="0"/>
              <a:t>‹#›</a:t>
            </a:fld>
            <a:endParaRPr lang="en-IN"/>
          </a:p>
        </p:txBody>
      </p:sp>
    </p:spTree>
    <p:extLst>
      <p:ext uri="{BB962C8B-B14F-4D97-AF65-F5344CB8AC3E}">
        <p14:creationId xmlns:p14="http://schemas.microsoft.com/office/powerpoint/2010/main" val="102794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2D27C-EB91-8112-D555-B7AFC6126C5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0FD42C4-CFB8-F4DC-E5DA-AB8D8A6432ED}"/>
              </a:ext>
            </a:extLst>
          </p:cNvPr>
          <p:cNvSpPr>
            <a:spLocks noGrp="1"/>
          </p:cNvSpPr>
          <p:nvPr>
            <p:ph type="dt" sz="half" idx="10"/>
          </p:nvPr>
        </p:nvSpPr>
        <p:spPr/>
        <p:txBody>
          <a:bodyPr/>
          <a:lstStyle/>
          <a:p>
            <a:fld id="{1667E35E-CF3E-452F-9B35-7574892435B1}" type="datetime1">
              <a:rPr lang="en-IN" smtClean="0"/>
              <a:t>08-11-2025</a:t>
            </a:fld>
            <a:endParaRPr lang="en-IN"/>
          </a:p>
        </p:txBody>
      </p:sp>
      <p:sp>
        <p:nvSpPr>
          <p:cNvPr id="4" name="Footer Placeholder 3">
            <a:extLst>
              <a:ext uri="{FF2B5EF4-FFF2-40B4-BE49-F238E27FC236}">
                <a16:creationId xmlns:a16="http://schemas.microsoft.com/office/drawing/2014/main" id="{1C89D2F0-4D8D-8491-80A9-42D48CC08D5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3BDB7D8-FCD0-9C7D-C120-14545D4E58E5}"/>
              </a:ext>
            </a:extLst>
          </p:cNvPr>
          <p:cNvSpPr>
            <a:spLocks noGrp="1"/>
          </p:cNvSpPr>
          <p:nvPr>
            <p:ph type="sldNum" sz="quarter" idx="12"/>
          </p:nvPr>
        </p:nvSpPr>
        <p:spPr/>
        <p:txBody>
          <a:bodyPr/>
          <a:lstStyle/>
          <a:p>
            <a:fld id="{7CDFB2E1-A240-42B0-B01C-5FB898363E65}" type="slidenum">
              <a:rPr lang="en-IN" smtClean="0"/>
              <a:t>‹#›</a:t>
            </a:fld>
            <a:endParaRPr lang="en-IN"/>
          </a:p>
        </p:txBody>
      </p:sp>
    </p:spTree>
    <p:extLst>
      <p:ext uri="{BB962C8B-B14F-4D97-AF65-F5344CB8AC3E}">
        <p14:creationId xmlns:p14="http://schemas.microsoft.com/office/powerpoint/2010/main" val="4189522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074064-49EC-0156-468E-982B017D73C9}"/>
              </a:ext>
            </a:extLst>
          </p:cNvPr>
          <p:cNvSpPr>
            <a:spLocks noGrp="1"/>
          </p:cNvSpPr>
          <p:nvPr>
            <p:ph type="dt" sz="half" idx="10"/>
          </p:nvPr>
        </p:nvSpPr>
        <p:spPr/>
        <p:txBody>
          <a:bodyPr/>
          <a:lstStyle/>
          <a:p>
            <a:fld id="{6CAABDCE-D4D7-46D5-8B72-ABB6F8926C0D}" type="datetime1">
              <a:rPr lang="en-IN" smtClean="0"/>
              <a:t>08-11-2025</a:t>
            </a:fld>
            <a:endParaRPr lang="en-IN"/>
          </a:p>
        </p:txBody>
      </p:sp>
      <p:sp>
        <p:nvSpPr>
          <p:cNvPr id="3" name="Footer Placeholder 2">
            <a:extLst>
              <a:ext uri="{FF2B5EF4-FFF2-40B4-BE49-F238E27FC236}">
                <a16:creationId xmlns:a16="http://schemas.microsoft.com/office/drawing/2014/main" id="{ED384757-9DFC-1EC0-6391-2220D0E0E54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8E2165C-4892-8636-4F0F-9B1CBDF79944}"/>
              </a:ext>
            </a:extLst>
          </p:cNvPr>
          <p:cNvSpPr>
            <a:spLocks noGrp="1"/>
          </p:cNvSpPr>
          <p:nvPr>
            <p:ph type="sldNum" sz="quarter" idx="12"/>
          </p:nvPr>
        </p:nvSpPr>
        <p:spPr/>
        <p:txBody>
          <a:bodyPr/>
          <a:lstStyle/>
          <a:p>
            <a:fld id="{7CDFB2E1-A240-42B0-B01C-5FB898363E65}" type="slidenum">
              <a:rPr lang="en-IN" smtClean="0"/>
              <a:t>‹#›</a:t>
            </a:fld>
            <a:endParaRPr lang="en-IN"/>
          </a:p>
        </p:txBody>
      </p:sp>
    </p:spTree>
    <p:extLst>
      <p:ext uri="{BB962C8B-B14F-4D97-AF65-F5344CB8AC3E}">
        <p14:creationId xmlns:p14="http://schemas.microsoft.com/office/powerpoint/2010/main" val="570562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ED43C-9464-A13C-9275-7969FFA8FD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FB95525-E4A6-C233-7971-C40AC704D4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9A960D9-ECA2-EC7A-D018-BE4135AD0B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1FD1A3-7C3A-B306-8317-120F46A69B8F}"/>
              </a:ext>
            </a:extLst>
          </p:cNvPr>
          <p:cNvSpPr>
            <a:spLocks noGrp="1"/>
          </p:cNvSpPr>
          <p:nvPr>
            <p:ph type="dt" sz="half" idx="10"/>
          </p:nvPr>
        </p:nvSpPr>
        <p:spPr/>
        <p:txBody>
          <a:bodyPr/>
          <a:lstStyle/>
          <a:p>
            <a:fld id="{A3BD522F-2A6D-4CB9-8EBD-0495C635F3CE}" type="datetime1">
              <a:rPr lang="en-IN" smtClean="0"/>
              <a:t>08-11-2025</a:t>
            </a:fld>
            <a:endParaRPr lang="en-IN"/>
          </a:p>
        </p:txBody>
      </p:sp>
      <p:sp>
        <p:nvSpPr>
          <p:cNvPr id="6" name="Footer Placeholder 5">
            <a:extLst>
              <a:ext uri="{FF2B5EF4-FFF2-40B4-BE49-F238E27FC236}">
                <a16:creationId xmlns:a16="http://schemas.microsoft.com/office/drawing/2014/main" id="{E491FB5C-CA8A-3F9C-43FD-B21F62398D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0104CF6-1F9D-3AF5-36B9-A1A7CBAA3C15}"/>
              </a:ext>
            </a:extLst>
          </p:cNvPr>
          <p:cNvSpPr>
            <a:spLocks noGrp="1"/>
          </p:cNvSpPr>
          <p:nvPr>
            <p:ph type="sldNum" sz="quarter" idx="12"/>
          </p:nvPr>
        </p:nvSpPr>
        <p:spPr/>
        <p:txBody>
          <a:bodyPr/>
          <a:lstStyle/>
          <a:p>
            <a:fld id="{7CDFB2E1-A240-42B0-B01C-5FB898363E65}" type="slidenum">
              <a:rPr lang="en-IN" smtClean="0"/>
              <a:t>‹#›</a:t>
            </a:fld>
            <a:endParaRPr lang="en-IN"/>
          </a:p>
        </p:txBody>
      </p:sp>
    </p:spTree>
    <p:extLst>
      <p:ext uri="{BB962C8B-B14F-4D97-AF65-F5344CB8AC3E}">
        <p14:creationId xmlns:p14="http://schemas.microsoft.com/office/powerpoint/2010/main" val="20749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3AD09-F37F-66D9-7DE8-7E176F7B4D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2379114-ECD5-BCA1-80F3-18EB4CCCA5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EF87569-9D49-FE79-0674-75E9203E09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BECC65-3E63-0FA6-6996-B1E4454275BC}"/>
              </a:ext>
            </a:extLst>
          </p:cNvPr>
          <p:cNvSpPr>
            <a:spLocks noGrp="1"/>
          </p:cNvSpPr>
          <p:nvPr>
            <p:ph type="dt" sz="half" idx="10"/>
          </p:nvPr>
        </p:nvSpPr>
        <p:spPr/>
        <p:txBody>
          <a:bodyPr/>
          <a:lstStyle/>
          <a:p>
            <a:fld id="{BBB6FB40-365C-444A-9243-775C7E376537}" type="datetime1">
              <a:rPr lang="en-IN" smtClean="0"/>
              <a:t>08-11-2025</a:t>
            </a:fld>
            <a:endParaRPr lang="en-IN"/>
          </a:p>
        </p:txBody>
      </p:sp>
      <p:sp>
        <p:nvSpPr>
          <p:cNvPr id="6" name="Footer Placeholder 5">
            <a:extLst>
              <a:ext uri="{FF2B5EF4-FFF2-40B4-BE49-F238E27FC236}">
                <a16:creationId xmlns:a16="http://schemas.microsoft.com/office/drawing/2014/main" id="{EA300726-3A33-86C5-175C-0C745B7D34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55A21A-1239-3D07-76D2-7D2140EBA1EE}"/>
              </a:ext>
            </a:extLst>
          </p:cNvPr>
          <p:cNvSpPr>
            <a:spLocks noGrp="1"/>
          </p:cNvSpPr>
          <p:nvPr>
            <p:ph type="sldNum" sz="quarter" idx="12"/>
          </p:nvPr>
        </p:nvSpPr>
        <p:spPr/>
        <p:txBody>
          <a:bodyPr/>
          <a:lstStyle/>
          <a:p>
            <a:fld id="{7CDFB2E1-A240-42B0-B01C-5FB898363E65}" type="slidenum">
              <a:rPr lang="en-IN" smtClean="0"/>
              <a:t>‹#›</a:t>
            </a:fld>
            <a:endParaRPr lang="en-IN"/>
          </a:p>
        </p:txBody>
      </p:sp>
    </p:spTree>
    <p:extLst>
      <p:ext uri="{BB962C8B-B14F-4D97-AF65-F5344CB8AC3E}">
        <p14:creationId xmlns:p14="http://schemas.microsoft.com/office/powerpoint/2010/main" val="1317270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CD5CC-6E1F-C655-3FA3-C26DCDDBC5E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E54C66-7DE9-4ED1-0F0F-133E5A2B63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A4EA80-869E-665B-205B-9D00ACC4C39D}"/>
              </a:ext>
            </a:extLst>
          </p:cNvPr>
          <p:cNvSpPr>
            <a:spLocks noGrp="1"/>
          </p:cNvSpPr>
          <p:nvPr>
            <p:ph type="dt" sz="half" idx="10"/>
          </p:nvPr>
        </p:nvSpPr>
        <p:spPr/>
        <p:txBody>
          <a:bodyPr/>
          <a:lstStyle/>
          <a:p>
            <a:fld id="{B34FC232-FCDF-4BFC-AEB3-033BEEA70FD7}" type="datetime1">
              <a:rPr lang="en-IN" smtClean="0"/>
              <a:t>08-11-2025</a:t>
            </a:fld>
            <a:endParaRPr lang="en-IN"/>
          </a:p>
        </p:txBody>
      </p:sp>
      <p:sp>
        <p:nvSpPr>
          <p:cNvPr id="5" name="Footer Placeholder 4">
            <a:extLst>
              <a:ext uri="{FF2B5EF4-FFF2-40B4-BE49-F238E27FC236}">
                <a16:creationId xmlns:a16="http://schemas.microsoft.com/office/drawing/2014/main" id="{893D8304-2E5A-81EC-6DC7-4B981D05F5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397164-8DE1-BD15-9FD1-03BABC367E50}"/>
              </a:ext>
            </a:extLst>
          </p:cNvPr>
          <p:cNvSpPr>
            <a:spLocks noGrp="1"/>
          </p:cNvSpPr>
          <p:nvPr>
            <p:ph type="sldNum" sz="quarter" idx="12"/>
          </p:nvPr>
        </p:nvSpPr>
        <p:spPr/>
        <p:txBody>
          <a:bodyPr/>
          <a:lstStyle/>
          <a:p>
            <a:fld id="{7CDFB2E1-A240-42B0-B01C-5FB898363E65}" type="slidenum">
              <a:rPr lang="en-IN" smtClean="0"/>
              <a:t>‹#›</a:t>
            </a:fld>
            <a:endParaRPr lang="en-IN"/>
          </a:p>
        </p:txBody>
      </p:sp>
    </p:spTree>
    <p:extLst>
      <p:ext uri="{BB962C8B-B14F-4D97-AF65-F5344CB8AC3E}">
        <p14:creationId xmlns:p14="http://schemas.microsoft.com/office/powerpoint/2010/main" val="2185028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9FBD51-B084-6A50-FF47-399C88B231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9AC55A-05F7-CF6D-8BAA-41889C5D77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29623E-E4D9-DE0D-5E5D-AAA7FDFC585B}"/>
              </a:ext>
            </a:extLst>
          </p:cNvPr>
          <p:cNvSpPr>
            <a:spLocks noGrp="1"/>
          </p:cNvSpPr>
          <p:nvPr>
            <p:ph type="dt" sz="half" idx="10"/>
          </p:nvPr>
        </p:nvSpPr>
        <p:spPr/>
        <p:txBody>
          <a:bodyPr/>
          <a:lstStyle/>
          <a:p>
            <a:fld id="{254DA00B-CD5E-425E-8CC7-19AC264C19EC}" type="datetime1">
              <a:rPr lang="en-IN" smtClean="0"/>
              <a:t>08-11-2025</a:t>
            </a:fld>
            <a:endParaRPr lang="en-IN"/>
          </a:p>
        </p:txBody>
      </p:sp>
      <p:sp>
        <p:nvSpPr>
          <p:cNvPr id="5" name="Footer Placeholder 4">
            <a:extLst>
              <a:ext uri="{FF2B5EF4-FFF2-40B4-BE49-F238E27FC236}">
                <a16:creationId xmlns:a16="http://schemas.microsoft.com/office/drawing/2014/main" id="{AA8FF4FC-A565-54BB-5F1C-5F81D77C06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9A3895-116A-B020-E36C-5D6D79411CBA}"/>
              </a:ext>
            </a:extLst>
          </p:cNvPr>
          <p:cNvSpPr>
            <a:spLocks noGrp="1"/>
          </p:cNvSpPr>
          <p:nvPr>
            <p:ph type="sldNum" sz="quarter" idx="12"/>
          </p:nvPr>
        </p:nvSpPr>
        <p:spPr/>
        <p:txBody>
          <a:bodyPr/>
          <a:lstStyle/>
          <a:p>
            <a:fld id="{7CDFB2E1-A240-42B0-B01C-5FB898363E65}" type="slidenum">
              <a:rPr lang="en-IN" smtClean="0"/>
              <a:t>‹#›</a:t>
            </a:fld>
            <a:endParaRPr lang="en-IN"/>
          </a:p>
        </p:txBody>
      </p:sp>
    </p:spTree>
    <p:extLst>
      <p:ext uri="{BB962C8B-B14F-4D97-AF65-F5344CB8AC3E}">
        <p14:creationId xmlns:p14="http://schemas.microsoft.com/office/powerpoint/2010/main" val="3271839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EB8D95-C150-1437-E994-9CCB4FF398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ACC0AF-5E7F-D098-5B84-3D39EFB71B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C518C1-19EB-360C-3D29-9E17E1F47F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F658D6-17A4-4C21-A8A2-1B88CFDDEAAC}" type="datetime1">
              <a:rPr lang="en-IN" smtClean="0"/>
              <a:t>08-11-2025</a:t>
            </a:fld>
            <a:endParaRPr lang="en-IN"/>
          </a:p>
        </p:txBody>
      </p:sp>
      <p:sp>
        <p:nvSpPr>
          <p:cNvPr id="5" name="Footer Placeholder 4">
            <a:extLst>
              <a:ext uri="{FF2B5EF4-FFF2-40B4-BE49-F238E27FC236}">
                <a16:creationId xmlns:a16="http://schemas.microsoft.com/office/drawing/2014/main" id="{473DC90E-F2B5-0B82-F5E6-28DF8212DF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913C808-2A58-86B1-F107-9BE2154B4C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CDFB2E1-A240-42B0-B01C-5FB898363E65}" type="slidenum">
              <a:rPr lang="en-IN" smtClean="0"/>
              <a:t>‹#›</a:t>
            </a:fld>
            <a:endParaRPr lang="en-IN"/>
          </a:p>
        </p:txBody>
      </p:sp>
    </p:spTree>
    <p:extLst>
      <p:ext uri="{BB962C8B-B14F-4D97-AF65-F5344CB8AC3E}">
        <p14:creationId xmlns:p14="http://schemas.microsoft.com/office/powerpoint/2010/main" val="3677958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2E487-4B89-A43B-F61E-AAC96BA257DA}"/>
              </a:ext>
            </a:extLst>
          </p:cNvPr>
          <p:cNvSpPr>
            <a:spLocks noGrp="1"/>
          </p:cNvSpPr>
          <p:nvPr>
            <p:ph type="ctrTitle"/>
          </p:nvPr>
        </p:nvSpPr>
        <p:spPr/>
        <p:txBody>
          <a:bodyPr>
            <a:normAutofit fontScale="90000"/>
          </a:bodyPr>
          <a:lstStyle/>
          <a:p>
            <a:r>
              <a:rPr lang="en-US" sz="3600" dirty="0">
                <a:latin typeface="Arial Nova" panose="020B0504020202020204" pitchFamily="34" charset="0"/>
              </a:rPr>
              <a:t>REAL TIME WEATHER MONITORING SYSTEM</a:t>
            </a:r>
            <a:br>
              <a:rPr lang="en-US" sz="3600" dirty="0">
                <a:latin typeface="Arial Nova" panose="020B0504020202020204" pitchFamily="34" charset="0"/>
              </a:rPr>
            </a:br>
            <a:br>
              <a:rPr lang="en-US" sz="2400" dirty="0">
                <a:latin typeface="Arial Nova" panose="020B0504020202020204" pitchFamily="34" charset="0"/>
              </a:rPr>
            </a:br>
            <a:r>
              <a:rPr lang="en-US" sz="2400" dirty="0">
                <a:latin typeface="Arial Nova" panose="020B0504020202020204" pitchFamily="34" charset="0"/>
              </a:rPr>
              <a:t>BY</a:t>
            </a:r>
            <a:br>
              <a:rPr lang="en-US" sz="2400" dirty="0">
                <a:latin typeface="Arial Nova" panose="020B0504020202020204" pitchFamily="34" charset="0"/>
              </a:rPr>
            </a:br>
            <a:r>
              <a:rPr lang="en-IN" sz="2400" dirty="0">
                <a:latin typeface="Arial Nova" panose="020B0504020202020204" pitchFamily="34" charset="0"/>
              </a:rPr>
              <a:t>SARVESHWARAN V (RA2311017010006)</a:t>
            </a:r>
            <a:br>
              <a:rPr lang="en-IN" sz="2400" dirty="0">
                <a:latin typeface="Arial Nova" panose="020B0504020202020204" pitchFamily="34" charset="0"/>
              </a:rPr>
            </a:br>
            <a:r>
              <a:rPr lang="en-IN" sz="2400" dirty="0">
                <a:latin typeface="Arial Nova" panose="020B0504020202020204" pitchFamily="34" charset="0"/>
              </a:rPr>
              <a:t>SOHAN SIDHAARTH PRASAD(RA2311017010013)</a:t>
            </a:r>
            <a:br>
              <a:rPr lang="en-IN" sz="2400" dirty="0">
                <a:latin typeface="Arial Nova" panose="020B0504020202020204" pitchFamily="34" charset="0"/>
              </a:rPr>
            </a:br>
            <a:r>
              <a:rPr lang="en-IN" sz="2400" dirty="0">
                <a:latin typeface="Arial Nova" panose="020B0504020202020204" pitchFamily="34" charset="0"/>
              </a:rPr>
              <a:t>3</a:t>
            </a:r>
            <a:r>
              <a:rPr lang="en-IN" sz="2400" baseline="30000" dirty="0">
                <a:latin typeface="Arial Nova" panose="020B0504020202020204" pitchFamily="34" charset="0"/>
              </a:rPr>
              <a:t>rd</a:t>
            </a:r>
            <a:r>
              <a:rPr lang="en-IN" sz="2400" dirty="0">
                <a:latin typeface="Arial Nova" panose="020B0504020202020204" pitchFamily="34" charset="0"/>
              </a:rPr>
              <a:t> year</a:t>
            </a:r>
            <a:br>
              <a:rPr lang="en-IN" sz="2400" dirty="0">
                <a:latin typeface="Arial Nova" panose="020B0504020202020204" pitchFamily="34" charset="0"/>
              </a:rPr>
            </a:br>
            <a:br>
              <a:rPr lang="en-US" sz="2400" dirty="0">
                <a:latin typeface="Arial Nova" panose="020B0504020202020204" pitchFamily="34" charset="0"/>
              </a:rPr>
            </a:br>
            <a:endParaRPr lang="en-IN" sz="3600" dirty="0">
              <a:latin typeface="Arial Nova" panose="020B0504020202020204" pitchFamily="34" charset="0"/>
            </a:endParaRPr>
          </a:p>
        </p:txBody>
      </p:sp>
      <p:sp>
        <p:nvSpPr>
          <p:cNvPr id="3" name="Subtitle 2">
            <a:extLst>
              <a:ext uri="{FF2B5EF4-FFF2-40B4-BE49-F238E27FC236}">
                <a16:creationId xmlns:a16="http://schemas.microsoft.com/office/drawing/2014/main" id="{E8F0AC93-889A-6CE6-D3D1-15756D15DBB2}"/>
              </a:ext>
            </a:extLst>
          </p:cNvPr>
          <p:cNvSpPr>
            <a:spLocks noGrp="1"/>
          </p:cNvSpPr>
          <p:nvPr>
            <p:ph type="subTitle" idx="1"/>
          </p:nvPr>
        </p:nvSpPr>
        <p:spPr/>
        <p:txBody>
          <a:bodyPr/>
          <a:lstStyle/>
          <a:p>
            <a:r>
              <a:rPr lang="en-IN" dirty="0">
                <a:latin typeface="Arial Nova" panose="020B0504020202020204" pitchFamily="34" charset="0"/>
              </a:rPr>
              <a:t>21EIC301P- EMBEDDED SYSTEM DESIGN</a:t>
            </a:r>
          </a:p>
          <a:p>
            <a:r>
              <a:rPr lang="en-IN" dirty="0">
                <a:latin typeface="Arial Nova" panose="020B0504020202020204" pitchFamily="34" charset="0"/>
              </a:rPr>
              <a:t>DEPARTMENT OF ELECTRONICS AND INSTRUMENTATION ENGINEERING</a:t>
            </a:r>
          </a:p>
          <a:p>
            <a:endParaRPr lang="en-IN" dirty="0">
              <a:latin typeface="Arial Nova" panose="020B0504020202020204" pitchFamily="34" charset="0"/>
            </a:endParaRPr>
          </a:p>
        </p:txBody>
      </p:sp>
      <p:pic>
        <p:nvPicPr>
          <p:cNvPr id="4" name="Picture 3">
            <a:extLst>
              <a:ext uri="{FF2B5EF4-FFF2-40B4-BE49-F238E27FC236}">
                <a16:creationId xmlns:a16="http://schemas.microsoft.com/office/drawing/2014/main" id="{0BB1C367-9040-FBE4-43B4-C39BC8EC871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12287" y="0"/>
            <a:ext cx="947057" cy="947057"/>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69780701-5C3F-C8A7-B9C0-B101C9370FD7}"/>
              </a:ext>
            </a:extLst>
          </p:cNvPr>
          <p:cNvSpPr>
            <a:spLocks noGrp="1"/>
          </p:cNvSpPr>
          <p:nvPr>
            <p:ph type="sldNum" sz="quarter" idx="12"/>
          </p:nvPr>
        </p:nvSpPr>
        <p:spPr/>
        <p:txBody>
          <a:bodyPr/>
          <a:lstStyle/>
          <a:p>
            <a:fld id="{7CDFB2E1-A240-42B0-B01C-5FB898363E65}" type="slidenum">
              <a:rPr lang="en-IN" smtClean="0"/>
              <a:t>1</a:t>
            </a:fld>
            <a:endParaRPr lang="en-IN"/>
          </a:p>
        </p:txBody>
      </p:sp>
    </p:spTree>
    <p:extLst>
      <p:ext uri="{BB962C8B-B14F-4D97-AF65-F5344CB8AC3E}">
        <p14:creationId xmlns:p14="http://schemas.microsoft.com/office/powerpoint/2010/main" val="925251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DE192-9A47-7452-E114-A5F918BCA9A8}"/>
              </a:ext>
            </a:extLst>
          </p:cNvPr>
          <p:cNvSpPr>
            <a:spLocks noGrp="1"/>
          </p:cNvSpPr>
          <p:nvPr>
            <p:ph type="title"/>
          </p:nvPr>
        </p:nvSpPr>
        <p:spPr/>
        <p:txBody>
          <a:bodyPr>
            <a:normAutofit/>
          </a:bodyPr>
          <a:lstStyle/>
          <a:p>
            <a:r>
              <a:rPr lang="en-US" sz="4000" dirty="0"/>
              <a:t>Problem Statement &amp; </a:t>
            </a:r>
            <a:r>
              <a:rPr lang="en-IN" sz="4000" dirty="0"/>
              <a:t>Objectives</a:t>
            </a:r>
          </a:p>
        </p:txBody>
      </p:sp>
      <p:sp>
        <p:nvSpPr>
          <p:cNvPr id="3" name="Content Placeholder 2">
            <a:extLst>
              <a:ext uri="{FF2B5EF4-FFF2-40B4-BE49-F238E27FC236}">
                <a16:creationId xmlns:a16="http://schemas.microsoft.com/office/drawing/2014/main" id="{94E9C585-F560-BA2D-75E7-367B06DC9AF1}"/>
              </a:ext>
            </a:extLst>
          </p:cNvPr>
          <p:cNvSpPr>
            <a:spLocks noGrp="1"/>
          </p:cNvSpPr>
          <p:nvPr>
            <p:ph idx="1"/>
          </p:nvPr>
        </p:nvSpPr>
        <p:spPr>
          <a:xfrm>
            <a:off x="878457" y="1547971"/>
            <a:ext cx="10515600" cy="4351338"/>
          </a:xfrm>
        </p:spPr>
        <p:txBody>
          <a:bodyPr>
            <a:normAutofit/>
          </a:bodyPr>
          <a:lstStyle/>
          <a:p>
            <a:pPr marL="0" indent="0" algn="just">
              <a:buNone/>
            </a:pPr>
            <a:r>
              <a:rPr lang="en-US" sz="2400" dirty="0"/>
              <a:t>Problem Statement</a:t>
            </a:r>
          </a:p>
          <a:p>
            <a:pPr marL="0" indent="0" algn="just">
              <a:buNone/>
            </a:pPr>
            <a:r>
              <a:rPr lang="en-US" sz="2400" dirty="0"/>
              <a:t> Real-time, accurate, and location-specific weather data is often unavailable with conventional systems. There is a need for a low-cost IoT-based weather monitoring station that can measure temperature, humidity, pressure, rainfall, and wind to provide reliable local weather insights.</a:t>
            </a:r>
          </a:p>
          <a:p>
            <a:pPr marL="0" indent="0" algn="just">
              <a:buNone/>
            </a:pPr>
            <a:r>
              <a:rPr lang="en-US" sz="2400" dirty="0"/>
              <a:t>Objectives</a:t>
            </a:r>
          </a:p>
          <a:p>
            <a:pPr algn="just"/>
            <a:r>
              <a:rPr lang="en-US" sz="2400" dirty="0"/>
              <a:t>To develop an IoT-enabled weather monitoring station using STM32 for sensor data acquisition and ESP32 for wireless communication.</a:t>
            </a:r>
          </a:p>
          <a:p>
            <a:pPr algn="just"/>
            <a:r>
              <a:rPr lang="en-US" sz="2400" dirty="0"/>
              <a:t>This measure key weather parameters such as temperature, humidity, rainfall, and atmospheric pressure using reliable, low-cost sensors.</a:t>
            </a:r>
          </a:p>
          <a:p>
            <a:endParaRPr lang="en-IN" sz="2400" dirty="0"/>
          </a:p>
        </p:txBody>
      </p:sp>
      <p:pic>
        <p:nvPicPr>
          <p:cNvPr id="4" name="Picture 3">
            <a:extLst>
              <a:ext uri="{FF2B5EF4-FFF2-40B4-BE49-F238E27FC236}">
                <a16:creationId xmlns:a16="http://schemas.microsoft.com/office/drawing/2014/main" id="{F7A4DB0E-955B-0B1F-DCDA-EE1E424596A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12287" y="0"/>
            <a:ext cx="947057" cy="94705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C45C354B-2649-DD2A-3B15-DE58BDCCE337}"/>
              </a:ext>
            </a:extLst>
          </p:cNvPr>
          <p:cNvSpPr>
            <a:spLocks noGrp="1"/>
          </p:cNvSpPr>
          <p:nvPr>
            <p:ph type="sldNum" sz="quarter" idx="12"/>
          </p:nvPr>
        </p:nvSpPr>
        <p:spPr/>
        <p:txBody>
          <a:bodyPr/>
          <a:lstStyle/>
          <a:p>
            <a:fld id="{7CDFB2E1-A240-42B0-B01C-5FB898363E65}" type="slidenum">
              <a:rPr lang="en-IN" smtClean="0"/>
              <a:t>2</a:t>
            </a:fld>
            <a:endParaRPr lang="en-IN"/>
          </a:p>
        </p:txBody>
      </p:sp>
    </p:spTree>
    <p:extLst>
      <p:ext uri="{BB962C8B-B14F-4D97-AF65-F5344CB8AC3E}">
        <p14:creationId xmlns:p14="http://schemas.microsoft.com/office/powerpoint/2010/main" val="1966340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6AA8F-5313-2873-81CF-AAA0C4AB5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8DF11F-82B3-A061-F45A-8636C6745322}"/>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FAAF79BE-1A76-5815-A58D-858977D2CB31}"/>
              </a:ext>
            </a:extLst>
          </p:cNvPr>
          <p:cNvSpPr>
            <a:spLocks noGrp="1"/>
          </p:cNvSpPr>
          <p:nvPr>
            <p:ph idx="1"/>
          </p:nvPr>
        </p:nvSpPr>
        <p:spPr/>
        <p:txBody>
          <a:bodyPr/>
          <a:lstStyle/>
          <a:p>
            <a:pPr marL="0" indent="0" algn="just">
              <a:buNone/>
            </a:pPr>
            <a:r>
              <a:rPr lang="en-US" sz="2400" dirty="0"/>
              <a:t>This project presents a solar-powered weather monitoring station using an STM32 microcontroller and ESP32 module. It measures temperature, humidity, rainfall, and atmospheric pressure through dedicated sensors and displays the results on an LCD with push-button control. A solar panel with voltage regulation ensures continuous, eco-friendly operation. Data is processed locally and can be monitored remotely, making the system low-cost, efficient, and suitable for smart agriculture and environmental applications</a:t>
            </a:r>
            <a:r>
              <a:rPr lang="en-US" dirty="0"/>
              <a:t>.</a:t>
            </a:r>
            <a:endParaRPr lang="en-IN" dirty="0"/>
          </a:p>
        </p:txBody>
      </p:sp>
      <p:pic>
        <p:nvPicPr>
          <p:cNvPr id="4" name="Picture 3">
            <a:extLst>
              <a:ext uri="{FF2B5EF4-FFF2-40B4-BE49-F238E27FC236}">
                <a16:creationId xmlns:a16="http://schemas.microsoft.com/office/drawing/2014/main" id="{3DEDFE7D-AFD6-9397-AA94-5CF5BBC7AAF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12287" y="0"/>
            <a:ext cx="947057" cy="94705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8E08C526-0615-CBE0-94BE-6C056977799D}"/>
              </a:ext>
            </a:extLst>
          </p:cNvPr>
          <p:cNvSpPr>
            <a:spLocks noGrp="1"/>
          </p:cNvSpPr>
          <p:nvPr>
            <p:ph type="sldNum" sz="quarter" idx="12"/>
          </p:nvPr>
        </p:nvSpPr>
        <p:spPr/>
        <p:txBody>
          <a:bodyPr/>
          <a:lstStyle/>
          <a:p>
            <a:fld id="{7CDFB2E1-A240-42B0-B01C-5FB898363E65}" type="slidenum">
              <a:rPr lang="en-IN" smtClean="0"/>
              <a:t>3</a:t>
            </a:fld>
            <a:endParaRPr lang="en-IN"/>
          </a:p>
        </p:txBody>
      </p:sp>
    </p:spTree>
    <p:extLst>
      <p:ext uri="{BB962C8B-B14F-4D97-AF65-F5344CB8AC3E}">
        <p14:creationId xmlns:p14="http://schemas.microsoft.com/office/powerpoint/2010/main" val="436119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0E6DA-3D2D-0A75-06DD-4D56BBBFAC2C}"/>
              </a:ext>
            </a:extLst>
          </p:cNvPr>
          <p:cNvSpPr>
            <a:spLocks noGrp="1"/>
          </p:cNvSpPr>
          <p:nvPr>
            <p:ph type="title"/>
          </p:nvPr>
        </p:nvSpPr>
        <p:spPr/>
        <p:txBody>
          <a:bodyPr/>
          <a:lstStyle/>
          <a:p>
            <a:r>
              <a:rPr lang="en-IN" dirty="0"/>
              <a:t>Literature Review</a:t>
            </a:r>
          </a:p>
        </p:txBody>
      </p:sp>
      <p:graphicFrame>
        <p:nvGraphicFramePr>
          <p:cNvPr id="5" name="Content Placeholder 4">
            <a:extLst>
              <a:ext uri="{FF2B5EF4-FFF2-40B4-BE49-F238E27FC236}">
                <a16:creationId xmlns:a16="http://schemas.microsoft.com/office/drawing/2014/main" id="{1710BBA6-4FC8-63CB-84BA-55256F347EFE}"/>
              </a:ext>
            </a:extLst>
          </p:cNvPr>
          <p:cNvGraphicFramePr>
            <a:graphicFrameLocks noGrp="1"/>
          </p:cNvGraphicFramePr>
          <p:nvPr>
            <p:ph idx="1"/>
            <p:extLst>
              <p:ext uri="{D42A27DB-BD31-4B8C-83A1-F6EECF244321}">
                <p14:modId xmlns:p14="http://schemas.microsoft.com/office/powerpoint/2010/main" val="521394643"/>
              </p:ext>
            </p:extLst>
          </p:nvPr>
        </p:nvGraphicFramePr>
        <p:xfrm>
          <a:off x="1104181" y="1518249"/>
          <a:ext cx="9841300" cy="4911119"/>
        </p:xfrm>
        <a:graphic>
          <a:graphicData uri="http://schemas.openxmlformats.org/drawingml/2006/table">
            <a:tbl>
              <a:tblPr firstRow="1" firstCol="1" bandRow="1">
                <a:tableStyleId>{5C22544A-7EE6-4342-B048-85BDC9FD1C3A}</a:tableStyleId>
              </a:tblPr>
              <a:tblGrid>
                <a:gridCol w="1968260">
                  <a:extLst>
                    <a:ext uri="{9D8B030D-6E8A-4147-A177-3AD203B41FA5}">
                      <a16:colId xmlns:a16="http://schemas.microsoft.com/office/drawing/2014/main" val="2647441661"/>
                    </a:ext>
                  </a:extLst>
                </a:gridCol>
                <a:gridCol w="1968260">
                  <a:extLst>
                    <a:ext uri="{9D8B030D-6E8A-4147-A177-3AD203B41FA5}">
                      <a16:colId xmlns:a16="http://schemas.microsoft.com/office/drawing/2014/main" val="1816737636"/>
                    </a:ext>
                  </a:extLst>
                </a:gridCol>
                <a:gridCol w="1968260">
                  <a:extLst>
                    <a:ext uri="{9D8B030D-6E8A-4147-A177-3AD203B41FA5}">
                      <a16:colId xmlns:a16="http://schemas.microsoft.com/office/drawing/2014/main" val="2900140109"/>
                    </a:ext>
                  </a:extLst>
                </a:gridCol>
                <a:gridCol w="1968260">
                  <a:extLst>
                    <a:ext uri="{9D8B030D-6E8A-4147-A177-3AD203B41FA5}">
                      <a16:colId xmlns:a16="http://schemas.microsoft.com/office/drawing/2014/main" val="2337896985"/>
                    </a:ext>
                  </a:extLst>
                </a:gridCol>
                <a:gridCol w="1968260">
                  <a:extLst>
                    <a:ext uri="{9D8B030D-6E8A-4147-A177-3AD203B41FA5}">
                      <a16:colId xmlns:a16="http://schemas.microsoft.com/office/drawing/2014/main" val="2709411317"/>
                    </a:ext>
                  </a:extLst>
                </a:gridCol>
              </a:tblGrid>
              <a:tr h="531871">
                <a:tc>
                  <a:txBody>
                    <a:bodyPr/>
                    <a:lstStyle/>
                    <a:p>
                      <a:pPr marL="0" marR="0">
                        <a:lnSpc>
                          <a:spcPct val="115000"/>
                        </a:lnSpc>
                        <a:spcAft>
                          <a:spcPts val="1000"/>
                        </a:spcAft>
                        <a:buNone/>
                      </a:pPr>
                      <a:r>
                        <a:rPr lang="en-US" sz="1600" dirty="0" err="1">
                          <a:effectLst/>
                        </a:rPr>
                        <a:t>S.No</a:t>
                      </a:r>
                      <a:r>
                        <a:rPr lang="en-US" sz="1600" dirty="0">
                          <a:effectLst/>
                        </a:rPr>
                        <a:t>.</a:t>
                      </a:r>
                      <a:endParaRPr lang="en-US" sz="1600" dirty="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tc>
                  <a:txBody>
                    <a:bodyPr/>
                    <a:lstStyle/>
                    <a:p>
                      <a:pPr marL="0" marR="0">
                        <a:lnSpc>
                          <a:spcPct val="115000"/>
                        </a:lnSpc>
                        <a:spcAft>
                          <a:spcPts val="1000"/>
                        </a:spcAft>
                        <a:buNone/>
                      </a:pPr>
                      <a:r>
                        <a:rPr lang="en-US" sz="1600">
                          <a:effectLst/>
                        </a:rPr>
                        <a:t>Title of the Paper</a:t>
                      </a:r>
                      <a:endParaRPr lang="en-US" sz="160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tc>
                  <a:txBody>
                    <a:bodyPr/>
                    <a:lstStyle/>
                    <a:p>
                      <a:pPr marL="0" marR="0">
                        <a:lnSpc>
                          <a:spcPct val="115000"/>
                        </a:lnSpc>
                        <a:spcAft>
                          <a:spcPts val="1000"/>
                        </a:spcAft>
                        <a:buNone/>
                      </a:pPr>
                      <a:r>
                        <a:rPr lang="en-US" sz="1600">
                          <a:effectLst/>
                        </a:rPr>
                        <a:t>Year</a:t>
                      </a:r>
                      <a:endParaRPr lang="en-US" sz="160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tc>
                  <a:txBody>
                    <a:bodyPr/>
                    <a:lstStyle/>
                    <a:p>
                      <a:pPr marL="0" marR="0">
                        <a:lnSpc>
                          <a:spcPct val="115000"/>
                        </a:lnSpc>
                        <a:spcAft>
                          <a:spcPts val="1000"/>
                        </a:spcAft>
                        <a:buNone/>
                      </a:pPr>
                      <a:r>
                        <a:rPr lang="en-US" sz="1600">
                          <a:effectLst/>
                        </a:rPr>
                        <a:t>Journal/Conference Name</a:t>
                      </a:r>
                      <a:endParaRPr lang="en-US" sz="160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tc>
                  <a:txBody>
                    <a:bodyPr/>
                    <a:lstStyle/>
                    <a:p>
                      <a:pPr marL="0" marR="0">
                        <a:lnSpc>
                          <a:spcPct val="115000"/>
                        </a:lnSpc>
                        <a:spcAft>
                          <a:spcPts val="1000"/>
                        </a:spcAft>
                        <a:buNone/>
                      </a:pPr>
                      <a:r>
                        <a:rPr lang="en-US" sz="1600">
                          <a:effectLst/>
                        </a:rPr>
                        <a:t>Inferences</a:t>
                      </a:r>
                      <a:endParaRPr lang="en-US" sz="160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extLst>
                  <a:ext uri="{0D108BD9-81ED-4DB2-BD59-A6C34878D82A}">
                    <a16:rowId xmlns:a16="http://schemas.microsoft.com/office/drawing/2014/main" val="2442591634"/>
                  </a:ext>
                </a:extLst>
              </a:tr>
              <a:tr h="1353215">
                <a:tc>
                  <a:txBody>
                    <a:bodyPr/>
                    <a:lstStyle/>
                    <a:p>
                      <a:pPr marL="0" marR="0">
                        <a:lnSpc>
                          <a:spcPct val="115000"/>
                        </a:lnSpc>
                        <a:spcAft>
                          <a:spcPts val="1000"/>
                        </a:spcAft>
                        <a:buNone/>
                      </a:pPr>
                      <a:r>
                        <a:rPr lang="en-US" sz="1600" dirty="0">
                          <a:effectLst/>
                        </a:rPr>
                        <a:t>1</a:t>
                      </a:r>
                      <a:endParaRPr lang="en-US" sz="1600" dirty="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tc>
                  <a:txBody>
                    <a:bodyPr/>
                    <a:lstStyle/>
                    <a:p>
                      <a:pPr marL="0" marR="0">
                        <a:lnSpc>
                          <a:spcPct val="115000"/>
                        </a:lnSpc>
                        <a:spcAft>
                          <a:spcPts val="1000"/>
                        </a:spcAft>
                        <a:buNone/>
                      </a:pPr>
                      <a:r>
                        <a:rPr lang="en-US" sz="1600" dirty="0">
                          <a:effectLst/>
                        </a:rPr>
                        <a:t>IoT Based Weather Monitoring System using ESP32</a:t>
                      </a:r>
                      <a:endParaRPr lang="en-US" sz="1600" dirty="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tc>
                  <a:txBody>
                    <a:bodyPr/>
                    <a:lstStyle/>
                    <a:p>
                      <a:pPr marL="0" marR="0">
                        <a:lnSpc>
                          <a:spcPct val="115000"/>
                        </a:lnSpc>
                        <a:spcAft>
                          <a:spcPts val="1000"/>
                        </a:spcAft>
                        <a:buNone/>
                      </a:pPr>
                      <a:r>
                        <a:rPr lang="en-US" sz="1600" dirty="0">
                          <a:effectLst/>
                        </a:rPr>
                        <a:t>2021</a:t>
                      </a:r>
                      <a:endParaRPr lang="en-US" sz="1600" dirty="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tc>
                  <a:txBody>
                    <a:bodyPr/>
                    <a:lstStyle/>
                    <a:p>
                      <a:pPr marL="0" marR="0">
                        <a:lnSpc>
                          <a:spcPct val="115000"/>
                        </a:lnSpc>
                        <a:spcAft>
                          <a:spcPts val="1000"/>
                        </a:spcAft>
                        <a:buNone/>
                      </a:pPr>
                      <a:r>
                        <a:rPr lang="en-US" sz="1600">
                          <a:effectLst/>
                        </a:rPr>
                        <a:t>IEEE Conference on IoT Applications</a:t>
                      </a:r>
                      <a:endParaRPr lang="en-US" sz="160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tc>
                  <a:txBody>
                    <a:bodyPr/>
                    <a:lstStyle/>
                    <a:p>
                      <a:pPr marL="0" marR="0">
                        <a:lnSpc>
                          <a:spcPct val="115000"/>
                        </a:lnSpc>
                        <a:spcAft>
                          <a:spcPts val="1000"/>
                        </a:spcAft>
                        <a:buNone/>
                      </a:pPr>
                      <a:r>
                        <a:rPr lang="en-US" sz="1600" dirty="0">
                          <a:effectLst/>
                        </a:rPr>
                        <a:t>Proposed a low-cost IoT-based system with real-time monitoring.</a:t>
                      </a:r>
                      <a:endParaRPr lang="en-US" sz="1600" dirty="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extLst>
                  <a:ext uri="{0D108BD9-81ED-4DB2-BD59-A6C34878D82A}">
                    <a16:rowId xmlns:a16="http://schemas.microsoft.com/office/drawing/2014/main" val="315286143"/>
                  </a:ext>
                </a:extLst>
              </a:tr>
              <a:tr h="1353215">
                <a:tc>
                  <a:txBody>
                    <a:bodyPr/>
                    <a:lstStyle/>
                    <a:p>
                      <a:pPr marL="0" marR="0">
                        <a:lnSpc>
                          <a:spcPct val="115000"/>
                        </a:lnSpc>
                        <a:spcAft>
                          <a:spcPts val="1000"/>
                        </a:spcAft>
                        <a:buNone/>
                      </a:pPr>
                      <a:r>
                        <a:rPr lang="en-US" sz="1600">
                          <a:effectLst/>
                        </a:rPr>
                        <a:t>2</a:t>
                      </a:r>
                      <a:endParaRPr lang="en-US" sz="160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tc>
                  <a:txBody>
                    <a:bodyPr/>
                    <a:lstStyle/>
                    <a:p>
                      <a:pPr marL="0" marR="0">
                        <a:lnSpc>
                          <a:spcPct val="115000"/>
                        </a:lnSpc>
                        <a:spcAft>
                          <a:spcPts val="1000"/>
                        </a:spcAft>
                        <a:buNone/>
                      </a:pPr>
                      <a:r>
                        <a:rPr lang="en-US" sz="1600">
                          <a:effectLst/>
                        </a:rPr>
                        <a:t>Design of STM32 Microcontroller Based Weather Station</a:t>
                      </a:r>
                      <a:endParaRPr lang="en-US" sz="160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tc>
                  <a:txBody>
                    <a:bodyPr/>
                    <a:lstStyle/>
                    <a:p>
                      <a:pPr marL="0" marR="0">
                        <a:lnSpc>
                          <a:spcPct val="115000"/>
                        </a:lnSpc>
                        <a:spcAft>
                          <a:spcPts val="1000"/>
                        </a:spcAft>
                        <a:buNone/>
                      </a:pPr>
                      <a:r>
                        <a:rPr lang="en-US" sz="1600" dirty="0">
                          <a:effectLst/>
                        </a:rPr>
                        <a:t>2020</a:t>
                      </a:r>
                      <a:endParaRPr lang="en-US" sz="1600" dirty="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tc>
                  <a:txBody>
                    <a:bodyPr/>
                    <a:lstStyle/>
                    <a:p>
                      <a:pPr marL="0" marR="0">
                        <a:lnSpc>
                          <a:spcPct val="115000"/>
                        </a:lnSpc>
                        <a:spcAft>
                          <a:spcPts val="1000"/>
                        </a:spcAft>
                        <a:buNone/>
                      </a:pPr>
                      <a:r>
                        <a:rPr lang="en-US" sz="1600" dirty="0">
                          <a:effectLst/>
                        </a:rPr>
                        <a:t>International Journal of Embedded Systems</a:t>
                      </a:r>
                      <a:endParaRPr lang="en-US" sz="1600" dirty="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tc>
                  <a:txBody>
                    <a:bodyPr/>
                    <a:lstStyle/>
                    <a:p>
                      <a:pPr marL="0" marR="0">
                        <a:lnSpc>
                          <a:spcPct val="115000"/>
                        </a:lnSpc>
                        <a:spcAft>
                          <a:spcPts val="1000"/>
                        </a:spcAft>
                        <a:buNone/>
                      </a:pPr>
                      <a:r>
                        <a:rPr lang="en-US" sz="1600">
                          <a:effectLst/>
                        </a:rPr>
                        <a:t>Demonstrated efficient data acquisition and processing using STM32.</a:t>
                      </a:r>
                      <a:endParaRPr lang="en-US" sz="160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extLst>
                  <a:ext uri="{0D108BD9-81ED-4DB2-BD59-A6C34878D82A}">
                    <a16:rowId xmlns:a16="http://schemas.microsoft.com/office/drawing/2014/main" val="3305072135"/>
                  </a:ext>
                </a:extLst>
              </a:tr>
              <a:tr h="1626996">
                <a:tc>
                  <a:txBody>
                    <a:bodyPr/>
                    <a:lstStyle/>
                    <a:p>
                      <a:pPr marL="0" marR="0">
                        <a:lnSpc>
                          <a:spcPct val="115000"/>
                        </a:lnSpc>
                        <a:spcAft>
                          <a:spcPts val="1000"/>
                        </a:spcAft>
                        <a:buNone/>
                      </a:pPr>
                      <a:r>
                        <a:rPr lang="en-US" sz="1600">
                          <a:effectLst/>
                        </a:rPr>
                        <a:t>3</a:t>
                      </a:r>
                      <a:endParaRPr lang="en-US" sz="160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tc>
                  <a:txBody>
                    <a:bodyPr/>
                    <a:lstStyle/>
                    <a:p>
                      <a:pPr marL="0" marR="0">
                        <a:lnSpc>
                          <a:spcPct val="115000"/>
                        </a:lnSpc>
                        <a:spcAft>
                          <a:spcPts val="1000"/>
                        </a:spcAft>
                        <a:buNone/>
                      </a:pPr>
                      <a:r>
                        <a:rPr lang="en-US" sz="1600">
                          <a:effectLst/>
                        </a:rPr>
                        <a:t>Wireless Weather Monitoring using ESP32 and Cloud Integration</a:t>
                      </a:r>
                      <a:endParaRPr lang="en-US" sz="160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tc>
                  <a:txBody>
                    <a:bodyPr/>
                    <a:lstStyle/>
                    <a:p>
                      <a:pPr marL="0" marR="0">
                        <a:lnSpc>
                          <a:spcPct val="115000"/>
                        </a:lnSpc>
                        <a:spcAft>
                          <a:spcPts val="1000"/>
                        </a:spcAft>
                        <a:buNone/>
                      </a:pPr>
                      <a:r>
                        <a:rPr lang="en-US" sz="1600">
                          <a:effectLst/>
                        </a:rPr>
                        <a:t>2022</a:t>
                      </a:r>
                      <a:endParaRPr lang="en-US" sz="160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tc>
                  <a:txBody>
                    <a:bodyPr/>
                    <a:lstStyle/>
                    <a:p>
                      <a:pPr marL="0" marR="0">
                        <a:lnSpc>
                          <a:spcPct val="115000"/>
                        </a:lnSpc>
                        <a:spcAft>
                          <a:spcPts val="1000"/>
                        </a:spcAft>
                        <a:buNone/>
                      </a:pPr>
                      <a:r>
                        <a:rPr lang="en-US" sz="1600" dirty="0">
                          <a:effectLst/>
                        </a:rPr>
                        <a:t>Springer IoT and Smart Systems</a:t>
                      </a:r>
                      <a:endParaRPr lang="en-US" sz="1600" dirty="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tc>
                  <a:txBody>
                    <a:bodyPr/>
                    <a:lstStyle/>
                    <a:p>
                      <a:pPr marL="0" marR="0">
                        <a:lnSpc>
                          <a:spcPct val="115000"/>
                        </a:lnSpc>
                        <a:spcAft>
                          <a:spcPts val="1000"/>
                        </a:spcAft>
                        <a:buNone/>
                      </a:pPr>
                      <a:r>
                        <a:rPr lang="en-US" sz="1600" dirty="0">
                          <a:effectLst/>
                        </a:rPr>
                        <a:t>Integrated ESP32 with cloud platforms for remote monitoring.</a:t>
                      </a:r>
                      <a:endParaRPr lang="en-US" sz="1600" dirty="0">
                        <a:effectLst/>
                        <a:latin typeface="Cambria" panose="02040503050406030204" pitchFamily="18" charset="0"/>
                        <a:ea typeface="MS Mincho" panose="02020609040205080304" pitchFamily="49" charset="-128"/>
                        <a:cs typeface="Latha" panose="020B0604020202020204" pitchFamily="34" charset="0"/>
                      </a:endParaRPr>
                    </a:p>
                  </a:txBody>
                  <a:tcPr marL="68580" marR="68580" marT="0" marB="0"/>
                </a:tc>
                <a:extLst>
                  <a:ext uri="{0D108BD9-81ED-4DB2-BD59-A6C34878D82A}">
                    <a16:rowId xmlns:a16="http://schemas.microsoft.com/office/drawing/2014/main" val="3732202256"/>
                  </a:ext>
                </a:extLst>
              </a:tr>
            </a:tbl>
          </a:graphicData>
        </a:graphic>
      </p:graphicFrame>
      <p:pic>
        <p:nvPicPr>
          <p:cNvPr id="4" name="Picture 3">
            <a:extLst>
              <a:ext uri="{FF2B5EF4-FFF2-40B4-BE49-F238E27FC236}">
                <a16:creationId xmlns:a16="http://schemas.microsoft.com/office/drawing/2014/main" id="{4305361C-DF49-E84A-3851-B489B4A4F50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12287" y="0"/>
            <a:ext cx="947057" cy="94705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9D24E177-4FC3-B5DF-81BF-A928AB8429DA}"/>
              </a:ext>
            </a:extLst>
          </p:cNvPr>
          <p:cNvSpPr>
            <a:spLocks noGrp="1"/>
          </p:cNvSpPr>
          <p:nvPr>
            <p:ph type="sldNum" sz="quarter" idx="12"/>
          </p:nvPr>
        </p:nvSpPr>
        <p:spPr/>
        <p:txBody>
          <a:bodyPr/>
          <a:lstStyle/>
          <a:p>
            <a:fld id="{7CDFB2E1-A240-42B0-B01C-5FB898363E65}" type="slidenum">
              <a:rPr lang="en-IN" smtClean="0"/>
              <a:t>4</a:t>
            </a:fld>
            <a:endParaRPr lang="en-IN"/>
          </a:p>
        </p:txBody>
      </p:sp>
    </p:spTree>
    <p:extLst>
      <p:ext uri="{BB962C8B-B14F-4D97-AF65-F5344CB8AC3E}">
        <p14:creationId xmlns:p14="http://schemas.microsoft.com/office/powerpoint/2010/main" val="108969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509FC-DB5B-A090-B490-04A522E5FB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42CE8E-8422-A5DE-62AF-A19BD23FCC5E}"/>
              </a:ext>
            </a:extLst>
          </p:cNvPr>
          <p:cNvSpPr>
            <a:spLocks noGrp="1"/>
          </p:cNvSpPr>
          <p:nvPr>
            <p:ph type="title"/>
          </p:nvPr>
        </p:nvSpPr>
        <p:spPr/>
        <p:txBody>
          <a:bodyPr/>
          <a:lstStyle/>
          <a:p>
            <a:r>
              <a:rPr lang="en-IN" dirty="0"/>
              <a:t>Methodology- Block Diagram</a:t>
            </a:r>
          </a:p>
        </p:txBody>
      </p:sp>
      <p:pic>
        <p:nvPicPr>
          <p:cNvPr id="4" name="Picture 3">
            <a:extLst>
              <a:ext uri="{FF2B5EF4-FFF2-40B4-BE49-F238E27FC236}">
                <a16:creationId xmlns:a16="http://schemas.microsoft.com/office/drawing/2014/main" id="{815E39D6-804D-AE20-DADD-CC94A7533F3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12287" y="0"/>
            <a:ext cx="947057" cy="94705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4A12DEED-3F1B-1167-5128-D6F5AD5C060E}"/>
              </a:ext>
            </a:extLst>
          </p:cNvPr>
          <p:cNvSpPr>
            <a:spLocks noGrp="1"/>
          </p:cNvSpPr>
          <p:nvPr>
            <p:ph type="sldNum" sz="quarter" idx="12"/>
          </p:nvPr>
        </p:nvSpPr>
        <p:spPr/>
        <p:txBody>
          <a:bodyPr/>
          <a:lstStyle/>
          <a:p>
            <a:fld id="{7CDFB2E1-A240-42B0-B01C-5FB898363E65}" type="slidenum">
              <a:rPr lang="en-IN" smtClean="0"/>
              <a:t>5</a:t>
            </a:fld>
            <a:endParaRPr lang="en-IN"/>
          </a:p>
        </p:txBody>
      </p:sp>
      <p:pic>
        <p:nvPicPr>
          <p:cNvPr id="9" name="Picture 8" descr="A diagram of a computer system&#10;&#10;AI-generated content may be incorrect.">
            <a:extLst>
              <a:ext uri="{FF2B5EF4-FFF2-40B4-BE49-F238E27FC236}">
                <a16:creationId xmlns:a16="http://schemas.microsoft.com/office/drawing/2014/main" id="{DAE213F3-CA6D-CE3C-0D61-E439C07DAC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8740" y="1616075"/>
            <a:ext cx="7658100" cy="5105400"/>
          </a:xfrm>
          <a:prstGeom prst="rect">
            <a:avLst/>
          </a:prstGeom>
        </p:spPr>
      </p:pic>
      <p:cxnSp>
        <p:nvCxnSpPr>
          <p:cNvPr id="13" name="Straight Connector 12">
            <a:extLst>
              <a:ext uri="{FF2B5EF4-FFF2-40B4-BE49-F238E27FC236}">
                <a16:creationId xmlns:a16="http://schemas.microsoft.com/office/drawing/2014/main" id="{A2A4006F-93FE-03F6-EF6E-6F2255736756}"/>
              </a:ext>
            </a:extLst>
          </p:cNvPr>
          <p:cNvCxnSpPr/>
          <p:nvPr/>
        </p:nvCxnSpPr>
        <p:spPr>
          <a:xfrm>
            <a:off x="4683760" y="5008880"/>
            <a:ext cx="46228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03F7FCF-9C2F-F5BE-D09D-82F2433F9130}"/>
              </a:ext>
            </a:extLst>
          </p:cNvPr>
          <p:cNvCxnSpPr/>
          <p:nvPr/>
        </p:nvCxnSpPr>
        <p:spPr>
          <a:xfrm flipV="1">
            <a:off x="5146040" y="4064000"/>
            <a:ext cx="0" cy="94996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DD6BCACC-6E89-E165-0E1B-801D7E2FF446}"/>
              </a:ext>
            </a:extLst>
          </p:cNvPr>
          <p:cNvCxnSpPr/>
          <p:nvPr/>
        </p:nvCxnSpPr>
        <p:spPr>
          <a:xfrm>
            <a:off x="5146040" y="4058920"/>
            <a:ext cx="17272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085DCF39-053A-70BF-C080-8F375AFD91B0}"/>
              </a:ext>
            </a:extLst>
          </p:cNvPr>
          <p:cNvCxnSpPr/>
          <p:nvPr/>
        </p:nvCxnSpPr>
        <p:spPr>
          <a:xfrm>
            <a:off x="4941570" y="3482340"/>
            <a:ext cx="32385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5E79F8BE-A797-EEFF-65A3-C905174A92B0}"/>
              </a:ext>
            </a:extLst>
          </p:cNvPr>
          <p:cNvSpPr/>
          <p:nvPr/>
        </p:nvSpPr>
        <p:spPr>
          <a:xfrm>
            <a:off x="4815840" y="3512820"/>
            <a:ext cx="281940" cy="14858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Connector 21">
            <a:extLst>
              <a:ext uri="{FF2B5EF4-FFF2-40B4-BE49-F238E27FC236}">
                <a16:creationId xmlns:a16="http://schemas.microsoft.com/office/drawing/2014/main" id="{11639091-50F1-2872-0015-35B0E5FC4478}"/>
              </a:ext>
            </a:extLst>
          </p:cNvPr>
          <p:cNvCxnSpPr>
            <a:cxnSpLocks/>
          </p:cNvCxnSpPr>
          <p:nvPr/>
        </p:nvCxnSpPr>
        <p:spPr>
          <a:xfrm>
            <a:off x="4683760" y="5657850"/>
            <a:ext cx="54356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3CD2A2D6-69C1-5BA3-933F-01259D820730}"/>
              </a:ext>
            </a:extLst>
          </p:cNvPr>
          <p:cNvCxnSpPr/>
          <p:nvPr/>
        </p:nvCxnSpPr>
        <p:spPr>
          <a:xfrm flipV="1">
            <a:off x="5227320" y="4530090"/>
            <a:ext cx="0" cy="112776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Connector: Elbow 25">
            <a:extLst>
              <a:ext uri="{FF2B5EF4-FFF2-40B4-BE49-F238E27FC236}">
                <a16:creationId xmlns:a16="http://schemas.microsoft.com/office/drawing/2014/main" id="{B45D6507-05E6-EF60-B327-3C759F7F95A7}"/>
              </a:ext>
            </a:extLst>
          </p:cNvPr>
          <p:cNvCxnSpPr/>
          <p:nvPr/>
        </p:nvCxnSpPr>
        <p:spPr>
          <a:xfrm flipV="1">
            <a:off x="5227320" y="4370070"/>
            <a:ext cx="483870" cy="160020"/>
          </a:xfrm>
          <a:prstGeom prst="bentConnector3">
            <a:avLst>
              <a:gd name="adj1" fmla="val 100394"/>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7B815C5-5A36-E2E5-C5B4-A9460D62E4C7}"/>
              </a:ext>
            </a:extLst>
          </p:cNvPr>
          <p:cNvCxnSpPr/>
          <p:nvPr/>
        </p:nvCxnSpPr>
        <p:spPr>
          <a:xfrm>
            <a:off x="7207045" y="2153265"/>
            <a:ext cx="306979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1" name="Connector: Elbow 40">
            <a:extLst>
              <a:ext uri="{FF2B5EF4-FFF2-40B4-BE49-F238E27FC236}">
                <a16:creationId xmlns:a16="http://schemas.microsoft.com/office/drawing/2014/main" id="{E1F7B313-6F8E-B29D-EC3D-7C96A2CC30AC}"/>
              </a:ext>
            </a:extLst>
          </p:cNvPr>
          <p:cNvCxnSpPr/>
          <p:nvPr/>
        </p:nvCxnSpPr>
        <p:spPr>
          <a:xfrm rot="5400000">
            <a:off x="6989651" y="2370660"/>
            <a:ext cx="3504585" cy="3069795"/>
          </a:xfrm>
          <a:prstGeom prst="bentConnector3">
            <a:avLst>
              <a:gd name="adj1" fmla="val 100780"/>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5123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0D2ED-8E61-35BA-E356-14EF375E03BD}"/>
              </a:ext>
            </a:extLst>
          </p:cNvPr>
          <p:cNvSpPr>
            <a:spLocks noGrp="1"/>
          </p:cNvSpPr>
          <p:nvPr>
            <p:ph type="title"/>
          </p:nvPr>
        </p:nvSpPr>
        <p:spPr/>
        <p:txBody>
          <a:bodyPr/>
          <a:lstStyle/>
          <a:p>
            <a:r>
              <a:rPr lang="en-US" dirty="0"/>
              <a:t>Algorithm</a:t>
            </a:r>
          </a:p>
        </p:txBody>
      </p:sp>
      <p:sp>
        <p:nvSpPr>
          <p:cNvPr id="3" name="Content Placeholder 2">
            <a:extLst>
              <a:ext uri="{FF2B5EF4-FFF2-40B4-BE49-F238E27FC236}">
                <a16:creationId xmlns:a16="http://schemas.microsoft.com/office/drawing/2014/main" id="{5A4B17D8-483C-ED24-0DCA-F22465E373BC}"/>
              </a:ext>
            </a:extLst>
          </p:cNvPr>
          <p:cNvSpPr>
            <a:spLocks noGrp="1"/>
          </p:cNvSpPr>
          <p:nvPr>
            <p:ph idx="1"/>
          </p:nvPr>
        </p:nvSpPr>
        <p:spPr>
          <a:xfrm>
            <a:off x="838200" y="1549854"/>
            <a:ext cx="10515600" cy="4351338"/>
          </a:xfrm>
        </p:spPr>
        <p:txBody>
          <a:bodyPr>
            <a:noAutofit/>
          </a:bodyPr>
          <a:lstStyle/>
          <a:p>
            <a:pPr marL="0" indent="0">
              <a:buNone/>
            </a:pPr>
            <a:endParaRPr lang="en-US" sz="2400" dirty="0"/>
          </a:p>
          <a:p>
            <a:pPr marL="514350" indent="-514350">
              <a:buFont typeface="+mj-lt"/>
              <a:buAutoNum type="arabicPeriod"/>
            </a:pPr>
            <a:r>
              <a:rPr lang="en-US" sz="2400" dirty="0"/>
              <a:t>Initialize STM32, ESP32, LCD &amp; </a:t>
            </a:r>
            <a:r>
              <a:rPr lang="en-US" sz="2400" dirty="0" err="1"/>
              <a:t>SensorsCalibrate</a:t>
            </a:r>
            <a:r>
              <a:rPr lang="en-US" sz="2400" dirty="0"/>
              <a:t> sensors (Temp, Humidity, Rain, Pressure)</a:t>
            </a:r>
          </a:p>
          <a:p>
            <a:pPr marL="514350" indent="-514350">
              <a:buFont typeface="+mj-lt"/>
              <a:buAutoNum type="arabicPeriod"/>
            </a:pPr>
            <a:r>
              <a:rPr lang="en-US" sz="2400" dirty="0"/>
              <a:t>Collect sensor data using STM32Process data (unit conversion &amp; filtering)</a:t>
            </a:r>
          </a:p>
          <a:p>
            <a:pPr marL="514350" indent="-514350">
              <a:buFont typeface="+mj-lt"/>
              <a:buAutoNum type="arabicPeriod"/>
            </a:pPr>
            <a:r>
              <a:rPr lang="en-US" sz="2400" dirty="0"/>
              <a:t>Display readings on LCD (push button to switch views)</a:t>
            </a:r>
          </a:p>
          <a:p>
            <a:pPr marL="514350" indent="-514350">
              <a:buFont typeface="+mj-lt"/>
              <a:buAutoNum type="arabicPeriod"/>
            </a:pPr>
            <a:r>
              <a:rPr lang="en-US" sz="2400" dirty="0"/>
              <a:t>Transmit data from STM32 → ESP32 → Cloud/IoT platform</a:t>
            </a:r>
          </a:p>
          <a:p>
            <a:pPr marL="514350" indent="-514350">
              <a:buFont typeface="+mj-lt"/>
              <a:buAutoNum type="arabicPeriod"/>
            </a:pPr>
            <a:r>
              <a:rPr lang="en-US" sz="2400" dirty="0"/>
              <a:t>Store/log data locally or in server</a:t>
            </a:r>
          </a:p>
          <a:p>
            <a:pPr marL="514350" indent="-514350">
              <a:buFont typeface="+mj-lt"/>
              <a:buAutoNum type="arabicPeriod"/>
            </a:pPr>
            <a:r>
              <a:rPr lang="en-US" sz="2400" dirty="0"/>
              <a:t>Perform basic weather prediction (optional AI in ESP32)</a:t>
            </a:r>
          </a:p>
          <a:p>
            <a:pPr marL="514350" indent="-514350">
              <a:buFont typeface="+mj-lt"/>
              <a:buAutoNum type="arabicPeriod"/>
            </a:pPr>
            <a:r>
              <a:rPr lang="en-US" sz="2400" dirty="0"/>
              <a:t>End</a:t>
            </a:r>
          </a:p>
        </p:txBody>
      </p:sp>
      <p:sp>
        <p:nvSpPr>
          <p:cNvPr id="4" name="Slide Number Placeholder 3">
            <a:extLst>
              <a:ext uri="{FF2B5EF4-FFF2-40B4-BE49-F238E27FC236}">
                <a16:creationId xmlns:a16="http://schemas.microsoft.com/office/drawing/2014/main" id="{78A1A618-95A5-496A-0CB3-0D503A63EB95}"/>
              </a:ext>
            </a:extLst>
          </p:cNvPr>
          <p:cNvSpPr>
            <a:spLocks noGrp="1"/>
          </p:cNvSpPr>
          <p:nvPr>
            <p:ph type="sldNum" sz="quarter" idx="12"/>
          </p:nvPr>
        </p:nvSpPr>
        <p:spPr/>
        <p:txBody>
          <a:bodyPr/>
          <a:lstStyle/>
          <a:p>
            <a:fld id="{7CDFB2E1-A240-42B0-B01C-5FB898363E65}" type="slidenum">
              <a:rPr lang="en-IN" smtClean="0"/>
              <a:t>6</a:t>
            </a:fld>
            <a:endParaRPr lang="en-IN"/>
          </a:p>
        </p:txBody>
      </p:sp>
    </p:spTree>
    <p:extLst>
      <p:ext uri="{BB962C8B-B14F-4D97-AF65-F5344CB8AC3E}">
        <p14:creationId xmlns:p14="http://schemas.microsoft.com/office/powerpoint/2010/main" val="426012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D952E-124B-15B2-0F13-2E98B366A649}"/>
              </a:ext>
            </a:extLst>
          </p:cNvPr>
          <p:cNvSpPr>
            <a:spLocks noGrp="1"/>
          </p:cNvSpPr>
          <p:nvPr>
            <p:ph type="title"/>
          </p:nvPr>
        </p:nvSpPr>
        <p:spPr>
          <a:xfrm>
            <a:off x="797943" y="0"/>
            <a:ext cx="10515600" cy="1325563"/>
          </a:xfrm>
        </p:spPr>
        <p:txBody>
          <a:bodyPr>
            <a:normAutofit/>
          </a:bodyPr>
          <a:lstStyle/>
          <a:p>
            <a:r>
              <a:rPr lang="en-US" sz="3600" dirty="0"/>
              <a:t>Processor &amp; Components Specification </a:t>
            </a:r>
            <a:endParaRPr lang="en-IN" sz="3600" dirty="0"/>
          </a:p>
        </p:txBody>
      </p:sp>
      <p:pic>
        <p:nvPicPr>
          <p:cNvPr id="4" name="Picture 3">
            <a:extLst>
              <a:ext uri="{FF2B5EF4-FFF2-40B4-BE49-F238E27FC236}">
                <a16:creationId xmlns:a16="http://schemas.microsoft.com/office/drawing/2014/main" id="{F78E67D6-AA3E-CD74-EDC0-088A1EEA1BA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12287" y="0"/>
            <a:ext cx="947057" cy="94705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Content Placeholder 8">
            <a:extLst>
              <a:ext uri="{FF2B5EF4-FFF2-40B4-BE49-F238E27FC236}">
                <a16:creationId xmlns:a16="http://schemas.microsoft.com/office/drawing/2014/main" id="{12C6CCB8-6444-AA65-4F40-CC474A8CA9FE}"/>
              </a:ext>
            </a:extLst>
          </p:cNvPr>
          <p:cNvGraphicFramePr>
            <a:graphicFrameLocks noGrp="1"/>
          </p:cNvGraphicFramePr>
          <p:nvPr>
            <p:ph idx="1"/>
            <p:extLst>
              <p:ext uri="{D42A27DB-BD31-4B8C-83A1-F6EECF244321}">
                <p14:modId xmlns:p14="http://schemas.microsoft.com/office/powerpoint/2010/main" val="2061653382"/>
              </p:ext>
            </p:extLst>
          </p:nvPr>
        </p:nvGraphicFramePr>
        <p:xfrm>
          <a:off x="1345721" y="1477128"/>
          <a:ext cx="9132498" cy="4169840"/>
        </p:xfrm>
        <a:graphic>
          <a:graphicData uri="http://schemas.openxmlformats.org/drawingml/2006/table">
            <a:tbl>
              <a:tblPr firstRow="1" firstCol="1" bandRow="1">
                <a:tableStyleId>{5C22544A-7EE6-4342-B048-85BDC9FD1C3A}</a:tableStyleId>
              </a:tblPr>
              <a:tblGrid>
                <a:gridCol w="4566249">
                  <a:extLst>
                    <a:ext uri="{9D8B030D-6E8A-4147-A177-3AD203B41FA5}">
                      <a16:colId xmlns:a16="http://schemas.microsoft.com/office/drawing/2014/main" val="1117279848"/>
                    </a:ext>
                  </a:extLst>
                </a:gridCol>
                <a:gridCol w="4566249">
                  <a:extLst>
                    <a:ext uri="{9D8B030D-6E8A-4147-A177-3AD203B41FA5}">
                      <a16:colId xmlns:a16="http://schemas.microsoft.com/office/drawing/2014/main" val="1075385584"/>
                    </a:ext>
                  </a:extLst>
                </a:gridCol>
              </a:tblGrid>
              <a:tr h="120813">
                <a:tc>
                  <a:txBody>
                    <a:bodyPr/>
                    <a:lstStyle/>
                    <a:p>
                      <a:pPr marL="0" marR="0">
                        <a:lnSpc>
                          <a:spcPct val="115000"/>
                        </a:lnSpc>
                        <a:spcAft>
                          <a:spcPts val="1000"/>
                        </a:spcAft>
                        <a:buNone/>
                      </a:pPr>
                      <a:r>
                        <a:rPr lang="en-US" sz="1400" dirty="0">
                          <a:effectLst/>
                        </a:rPr>
                        <a:t>Component</a:t>
                      </a:r>
                      <a:endParaRPr lang="en-US" sz="1400" dirty="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tc>
                  <a:txBody>
                    <a:bodyPr/>
                    <a:lstStyle/>
                    <a:p>
                      <a:pPr marL="0" marR="0">
                        <a:lnSpc>
                          <a:spcPct val="115000"/>
                        </a:lnSpc>
                        <a:spcAft>
                          <a:spcPts val="1000"/>
                        </a:spcAft>
                        <a:buNone/>
                      </a:pPr>
                      <a:r>
                        <a:rPr lang="en-US" sz="1400">
                          <a:effectLst/>
                        </a:rPr>
                        <a:t>Specification / Details</a:t>
                      </a:r>
                      <a:endParaRPr lang="en-US" sz="140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extLst>
                  <a:ext uri="{0D108BD9-81ED-4DB2-BD59-A6C34878D82A}">
                    <a16:rowId xmlns:a16="http://schemas.microsoft.com/office/drawing/2014/main" val="671931263"/>
                  </a:ext>
                </a:extLst>
              </a:tr>
              <a:tr h="516911">
                <a:tc>
                  <a:txBody>
                    <a:bodyPr/>
                    <a:lstStyle/>
                    <a:p>
                      <a:pPr marL="0" marR="0">
                        <a:lnSpc>
                          <a:spcPct val="115000"/>
                        </a:lnSpc>
                        <a:spcAft>
                          <a:spcPts val="1000"/>
                        </a:spcAft>
                        <a:buNone/>
                      </a:pPr>
                      <a:r>
                        <a:rPr lang="en-US" sz="1400" dirty="0">
                          <a:effectLst/>
                        </a:rPr>
                        <a:t>STM32 Microcontroller</a:t>
                      </a:r>
                      <a:endParaRPr lang="en-US" sz="1400" dirty="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tc>
                  <a:txBody>
                    <a:bodyPr/>
                    <a:lstStyle/>
                    <a:p>
                      <a:pPr marL="0" marR="0">
                        <a:lnSpc>
                          <a:spcPct val="115000"/>
                        </a:lnSpc>
                        <a:spcAft>
                          <a:spcPts val="1000"/>
                        </a:spcAft>
                        <a:buNone/>
                      </a:pPr>
                      <a:r>
                        <a:rPr lang="en-US" sz="1400">
                          <a:effectLst/>
                        </a:rPr>
                        <a:t>32-bit ARM Cortex-M, 72 MHz (e.g., STM32F103C8T6), Flash: 64 KB, RAM: 20 KB</a:t>
                      </a:r>
                      <a:endParaRPr lang="en-US" sz="140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extLst>
                  <a:ext uri="{0D108BD9-81ED-4DB2-BD59-A6C34878D82A}">
                    <a16:rowId xmlns:a16="http://schemas.microsoft.com/office/drawing/2014/main" val="680627121"/>
                  </a:ext>
                </a:extLst>
              </a:tr>
              <a:tr h="516911">
                <a:tc>
                  <a:txBody>
                    <a:bodyPr/>
                    <a:lstStyle/>
                    <a:p>
                      <a:pPr marL="0" marR="0">
                        <a:lnSpc>
                          <a:spcPct val="115000"/>
                        </a:lnSpc>
                        <a:spcAft>
                          <a:spcPts val="1000"/>
                        </a:spcAft>
                        <a:buNone/>
                      </a:pPr>
                      <a:r>
                        <a:rPr lang="en-US" sz="1400">
                          <a:effectLst/>
                        </a:rPr>
                        <a:t>ESP32 Wi-Fi Module</a:t>
                      </a:r>
                      <a:endParaRPr lang="en-US" sz="140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tc>
                  <a:txBody>
                    <a:bodyPr/>
                    <a:lstStyle/>
                    <a:p>
                      <a:pPr marL="0" marR="0">
                        <a:lnSpc>
                          <a:spcPct val="115000"/>
                        </a:lnSpc>
                        <a:spcAft>
                          <a:spcPts val="1000"/>
                        </a:spcAft>
                        <a:buNone/>
                      </a:pPr>
                      <a:r>
                        <a:rPr lang="en-US" sz="1400">
                          <a:effectLst/>
                        </a:rPr>
                        <a:t>Dual-core 32-bit LX6 CPU, Wi-Fi 802.11 b/g/n, Bluetooth 4.2, Operating Voltage: 3.3V</a:t>
                      </a:r>
                      <a:endParaRPr lang="en-US" sz="140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extLst>
                  <a:ext uri="{0D108BD9-81ED-4DB2-BD59-A6C34878D82A}">
                    <a16:rowId xmlns:a16="http://schemas.microsoft.com/office/drawing/2014/main" val="4285882727"/>
                  </a:ext>
                </a:extLst>
              </a:tr>
              <a:tr h="515867">
                <a:tc>
                  <a:txBody>
                    <a:bodyPr/>
                    <a:lstStyle/>
                    <a:p>
                      <a:pPr marL="0" marR="0">
                        <a:lnSpc>
                          <a:spcPct val="115000"/>
                        </a:lnSpc>
                        <a:spcAft>
                          <a:spcPts val="1000"/>
                        </a:spcAft>
                        <a:buNone/>
                      </a:pPr>
                      <a:r>
                        <a:rPr lang="en-US" sz="1400">
                          <a:effectLst/>
                        </a:rPr>
                        <a:t>Temperature &amp; Humidity Sensor (DHT22 / SHT31)</a:t>
                      </a:r>
                      <a:endParaRPr lang="en-US" sz="140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tc>
                  <a:txBody>
                    <a:bodyPr/>
                    <a:lstStyle/>
                    <a:p>
                      <a:pPr marL="0" marR="0">
                        <a:lnSpc>
                          <a:spcPct val="115000"/>
                        </a:lnSpc>
                        <a:spcAft>
                          <a:spcPts val="1000"/>
                        </a:spcAft>
                        <a:buNone/>
                      </a:pPr>
                      <a:r>
                        <a:rPr lang="en-US" sz="1400">
                          <a:effectLst/>
                        </a:rPr>
                        <a:t>DHT22: Temp Range -40°C to +80°C, Accuracy: ±0.5°C, Humidity Range: 0–100%, Accuracy: ±2–5%</a:t>
                      </a:r>
                      <a:endParaRPr lang="en-US" sz="140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extLst>
                  <a:ext uri="{0D108BD9-81ED-4DB2-BD59-A6C34878D82A}">
                    <a16:rowId xmlns:a16="http://schemas.microsoft.com/office/drawing/2014/main" val="2380647784"/>
                  </a:ext>
                </a:extLst>
              </a:tr>
              <a:tr h="515867">
                <a:tc>
                  <a:txBody>
                    <a:bodyPr/>
                    <a:lstStyle/>
                    <a:p>
                      <a:pPr marL="0" marR="0">
                        <a:lnSpc>
                          <a:spcPct val="115000"/>
                        </a:lnSpc>
                        <a:spcAft>
                          <a:spcPts val="1000"/>
                        </a:spcAft>
                        <a:buNone/>
                      </a:pPr>
                      <a:r>
                        <a:rPr lang="en-US" sz="1400">
                          <a:effectLst/>
                        </a:rPr>
                        <a:t>Barometric Pressure Sensor (BMP280 / BME280)</a:t>
                      </a:r>
                      <a:endParaRPr lang="en-US" sz="140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tc>
                  <a:txBody>
                    <a:bodyPr/>
                    <a:lstStyle/>
                    <a:p>
                      <a:pPr marL="0" marR="0">
                        <a:lnSpc>
                          <a:spcPct val="115000"/>
                        </a:lnSpc>
                        <a:spcAft>
                          <a:spcPts val="1000"/>
                        </a:spcAft>
                        <a:buNone/>
                      </a:pPr>
                      <a:r>
                        <a:rPr lang="en-US" sz="1400">
                          <a:effectLst/>
                        </a:rPr>
                        <a:t>Pressure Range: 300–1100 hPa, Accuracy: ±1 hPa, Temp Range: -40°C to +85°C</a:t>
                      </a:r>
                      <a:endParaRPr lang="en-US" sz="140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extLst>
                  <a:ext uri="{0D108BD9-81ED-4DB2-BD59-A6C34878D82A}">
                    <a16:rowId xmlns:a16="http://schemas.microsoft.com/office/drawing/2014/main" val="2714038082"/>
                  </a:ext>
                </a:extLst>
              </a:tr>
              <a:tr h="252845">
                <a:tc>
                  <a:txBody>
                    <a:bodyPr/>
                    <a:lstStyle/>
                    <a:p>
                      <a:pPr marL="0" marR="0">
                        <a:lnSpc>
                          <a:spcPct val="115000"/>
                        </a:lnSpc>
                        <a:spcAft>
                          <a:spcPts val="1000"/>
                        </a:spcAft>
                        <a:buNone/>
                      </a:pPr>
                      <a:r>
                        <a:rPr lang="en-US" sz="1400">
                          <a:effectLst/>
                        </a:rPr>
                        <a:t>Rain Sensor Module</a:t>
                      </a:r>
                      <a:endParaRPr lang="en-US" sz="140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tc>
                  <a:txBody>
                    <a:bodyPr/>
                    <a:lstStyle/>
                    <a:p>
                      <a:pPr marL="0" marR="0">
                        <a:lnSpc>
                          <a:spcPct val="115000"/>
                        </a:lnSpc>
                        <a:spcAft>
                          <a:spcPts val="1000"/>
                        </a:spcAft>
                        <a:buNone/>
                      </a:pPr>
                      <a:r>
                        <a:rPr lang="en-US" sz="1400">
                          <a:effectLst/>
                        </a:rPr>
                        <a:t>Analog &amp; Digital Output, Operating Voltage: 3.3–5V</a:t>
                      </a:r>
                      <a:endParaRPr lang="en-US" sz="140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extLst>
                  <a:ext uri="{0D108BD9-81ED-4DB2-BD59-A6C34878D82A}">
                    <a16:rowId xmlns:a16="http://schemas.microsoft.com/office/drawing/2014/main" val="4093442288"/>
                  </a:ext>
                </a:extLst>
              </a:tr>
              <a:tr h="383834">
                <a:tc>
                  <a:txBody>
                    <a:bodyPr/>
                    <a:lstStyle/>
                    <a:p>
                      <a:pPr marL="0" marR="0">
                        <a:lnSpc>
                          <a:spcPct val="115000"/>
                        </a:lnSpc>
                        <a:spcAft>
                          <a:spcPts val="1000"/>
                        </a:spcAft>
                        <a:buNone/>
                      </a:pPr>
                      <a:r>
                        <a:rPr lang="en-US" sz="1400">
                          <a:effectLst/>
                        </a:rPr>
                        <a:t>LCD Display (16x2 / 20x4 with I2C module)</a:t>
                      </a:r>
                      <a:endParaRPr lang="en-US" sz="140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tc>
                  <a:txBody>
                    <a:bodyPr/>
                    <a:lstStyle/>
                    <a:p>
                      <a:pPr marL="0" marR="0">
                        <a:lnSpc>
                          <a:spcPct val="115000"/>
                        </a:lnSpc>
                        <a:spcAft>
                          <a:spcPts val="1000"/>
                        </a:spcAft>
                        <a:buNone/>
                      </a:pPr>
                      <a:r>
                        <a:rPr lang="en-US" sz="1400">
                          <a:effectLst/>
                        </a:rPr>
                        <a:t>Operating Voltage: 5V, Display: Alphanumeric (2 rows × 16 characters)</a:t>
                      </a:r>
                      <a:endParaRPr lang="en-US" sz="140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extLst>
                  <a:ext uri="{0D108BD9-81ED-4DB2-BD59-A6C34878D82A}">
                    <a16:rowId xmlns:a16="http://schemas.microsoft.com/office/drawing/2014/main" val="731472795"/>
                  </a:ext>
                </a:extLst>
              </a:tr>
              <a:tr h="252845">
                <a:tc>
                  <a:txBody>
                    <a:bodyPr/>
                    <a:lstStyle/>
                    <a:p>
                      <a:pPr marL="0" marR="0">
                        <a:lnSpc>
                          <a:spcPct val="115000"/>
                        </a:lnSpc>
                        <a:spcAft>
                          <a:spcPts val="1000"/>
                        </a:spcAft>
                        <a:buNone/>
                      </a:pPr>
                      <a:r>
                        <a:rPr lang="en-US" sz="1400" dirty="0">
                          <a:effectLst/>
                        </a:rPr>
                        <a:t>Push Button</a:t>
                      </a:r>
                      <a:endParaRPr lang="en-US" sz="1400" dirty="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tc>
                  <a:txBody>
                    <a:bodyPr/>
                    <a:lstStyle/>
                    <a:p>
                      <a:pPr marL="0" marR="0">
                        <a:lnSpc>
                          <a:spcPct val="115000"/>
                        </a:lnSpc>
                        <a:spcAft>
                          <a:spcPts val="1000"/>
                        </a:spcAft>
                        <a:buNone/>
                      </a:pPr>
                      <a:r>
                        <a:rPr lang="en-US" sz="1400">
                          <a:effectLst/>
                        </a:rPr>
                        <a:t>SPST, Debounced, 5V compatible</a:t>
                      </a:r>
                      <a:endParaRPr lang="en-US" sz="140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extLst>
                  <a:ext uri="{0D108BD9-81ED-4DB2-BD59-A6C34878D82A}">
                    <a16:rowId xmlns:a16="http://schemas.microsoft.com/office/drawing/2014/main" val="1828897552"/>
                  </a:ext>
                </a:extLst>
              </a:tr>
              <a:tr h="384878">
                <a:tc>
                  <a:txBody>
                    <a:bodyPr/>
                    <a:lstStyle/>
                    <a:p>
                      <a:pPr marL="0" marR="0">
                        <a:lnSpc>
                          <a:spcPct val="115000"/>
                        </a:lnSpc>
                        <a:spcAft>
                          <a:spcPts val="1000"/>
                        </a:spcAft>
                        <a:buNone/>
                      </a:pPr>
                      <a:r>
                        <a:rPr lang="en-US" sz="1400" dirty="0">
                          <a:effectLst/>
                        </a:rPr>
                        <a:t>Voltage Regulator (AMS1117 / LM7805)</a:t>
                      </a:r>
                      <a:endParaRPr lang="en-US" sz="1400" dirty="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tc>
                  <a:txBody>
                    <a:bodyPr/>
                    <a:lstStyle/>
                    <a:p>
                      <a:pPr marL="0" marR="0">
                        <a:lnSpc>
                          <a:spcPct val="115000"/>
                        </a:lnSpc>
                        <a:spcAft>
                          <a:spcPts val="1000"/>
                        </a:spcAft>
                        <a:buNone/>
                      </a:pPr>
                      <a:r>
                        <a:rPr lang="en-US" sz="1400" dirty="0">
                          <a:effectLst/>
                        </a:rPr>
                        <a:t>AMS1117-3.3: 3.3V, 1A output; LM7805: 5V, 1A output</a:t>
                      </a:r>
                      <a:endParaRPr lang="en-US" sz="1400" dirty="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extLst>
                  <a:ext uri="{0D108BD9-81ED-4DB2-BD59-A6C34878D82A}">
                    <a16:rowId xmlns:a16="http://schemas.microsoft.com/office/drawing/2014/main" val="3694846985"/>
                  </a:ext>
                </a:extLst>
              </a:tr>
              <a:tr h="252845">
                <a:tc>
                  <a:txBody>
                    <a:bodyPr/>
                    <a:lstStyle/>
                    <a:p>
                      <a:pPr marL="0" marR="0">
                        <a:lnSpc>
                          <a:spcPct val="115000"/>
                        </a:lnSpc>
                        <a:spcAft>
                          <a:spcPts val="1000"/>
                        </a:spcAft>
                        <a:buNone/>
                      </a:pPr>
                      <a:r>
                        <a:rPr lang="en-US" sz="1400">
                          <a:effectLst/>
                        </a:rPr>
                        <a:t>Battery (Li-ion / Lead-acid)</a:t>
                      </a:r>
                      <a:endParaRPr lang="en-US" sz="140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tc>
                  <a:txBody>
                    <a:bodyPr/>
                    <a:lstStyle/>
                    <a:p>
                      <a:pPr marL="0" marR="0">
                        <a:lnSpc>
                          <a:spcPct val="115000"/>
                        </a:lnSpc>
                        <a:spcAft>
                          <a:spcPts val="1000"/>
                        </a:spcAft>
                        <a:buNone/>
                      </a:pPr>
                      <a:r>
                        <a:rPr lang="en-US" sz="1400">
                          <a:effectLst/>
                        </a:rPr>
                        <a:t>3.7V Li-ion (2000–4000 mAh) or 12V Lead-acid</a:t>
                      </a:r>
                      <a:endParaRPr lang="en-US" sz="140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extLst>
                  <a:ext uri="{0D108BD9-81ED-4DB2-BD59-A6C34878D82A}">
                    <a16:rowId xmlns:a16="http://schemas.microsoft.com/office/drawing/2014/main" val="157899561"/>
                  </a:ext>
                </a:extLst>
              </a:tr>
              <a:tr h="252845">
                <a:tc>
                  <a:txBody>
                    <a:bodyPr/>
                    <a:lstStyle/>
                    <a:p>
                      <a:pPr marL="0" marR="0">
                        <a:lnSpc>
                          <a:spcPct val="115000"/>
                        </a:lnSpc>
                        <a:spcAft>
                          <a:spcPts val="1000"/>
                        </a:spcAft>
                        <a:buNone/>
                      </a:pPr>
                      <a:r>
                        <a:rPr lang="en-US" sz="1400">
                          <a:effectLst/>
                        </a:rPr>
                        <a:t>Miscellaneous</a:t>
                      </a:r>
                      <a:endParaRPr lang="en-US" sz="140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tc>
                  <a:txBody>
                    <a:bodyPr/>
                    <a:lstStyle/>
                    <a:p>
                      <a:pPr marL="0" marR="0">
                        <a:lnSpc>
                          <a:spcPct val="115000"/>
                        </a:lnSpc>
                        <a:spcAft>
                          <a:spcPts val="1000"/>
                        </a:spcAft>
                        <a:buNone/>
                      </a:pPr>
                      <a:r>
                        <a:rPr lang="en-US" sz="1400" dirty="0">
                          <a:effectLst/>
                        </a:rPr>
                        <a:t>PCB, Jumper Wires, Resistors, Capacitors</a:t>
                      </a:r>
                      <a:endParaRPr lang="en-US" sz="1400" dirty="0">
                        <a:effectLst/>
                        <a:latin typeface="Cambria" panose="02040503050406030204" pitchFamily="18" charset="0"/>
                        <a:ea typeface="MS Mincho" panose="02020609040205080304" pitchFamily="49" charset="-128"/>
                        <a:cs typeface="Latha" panose="020B0604020202020204" pitchFamily="34" charset="0"/>
                      </a:endParaRPr>
                    </a:p>
                  </a:txBody>
                  <a:tcPr marL="46968" marR="46968" marT="0" marB="0"/>
                </a:tc>
                <a:extLst>
                  <a:ext uri="{0D108BD9-81ED-4DB2-BD59-A6C34878D82A}">
                    <a16:rowId xmlns:a16="http://schemas.microsoft.com/office/drawing/2014/main" val="1633274305"/>
                  </a:ext>
                </a:extLst>
              </a:tr>
            </a:tbl>
          </a:graphicData>
        </a:graphic>
      </p:graphicFrame>
      <p:sp>
        <p:nvSpPr>
          <p:cNvPr id="3" name="Slide Number Placeholder 2">
            <a:extLst>
              <a:ext uri="{FF2B5EF4-FFF2-40B4-BE49-F238E27FC236}">
                <a16:creationId xmlns:a16="http://schemas.microsoft.com/office/drawing/2014/main" id="{41D65153-9725-950E-BA33-575495FD6A8D}"/>
              </a:ext>
            </a:extLst>
          </p:cNvPr>
          <p:cNvSpPr>
            <a:spLocks noGrp="1"/>
          </p:cNvSpPr>
          <p:nvPr>
            <p:ph type="sldNum" sz="quarter" idx="12"/>
          </p:nvPr>
        </p:nvSpPr>
        <p:spPr/>
        <p:txBody>
          <a:bodyPr/>
          <a:lstStyle/>
          <a:p>
            <a:fld id="{7CDFB2E1-A240-42B0-B01C-5FB898363E65}" type="slidenum">
              <a:rPr lang="en-IN" smtClean="0"/>
              <a:t>7</a:t>
            </a:fld>
            <a:endParaRPr lang="en-IN"/>
          </a:p>
        </p:txBody>
      </p:sp>
    </p:spTree>
    <p:extLst>
      <p:ext uri="{BB962C8B-B14F-4D97-AF65-F5344CB8AC3E}">
        <p14:creationId xmlns:p14="http://schemas.microsoft.com/office/powerpoint/2010/main" val="4048538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2BE2A-3DE7-C74E-42B6-EE973AEB6016}"/>
              </a:ext>
            </a:extLst>
          </p:cNvPr>
          <p:cNvSpPr>
            <a:spLocks noGrp="1"/>
          </p:cNvSpPr>
          <p:nvPr>
            <p:ph type="title"/>
          </p:nvPr>
        </p:nvSpPr>
        <p:spPr/>
        <p:txBody>
          <a:bodyPr/>
          <a:lstStyle/>
          <a:p>
            <a:r>
              <a:rPr lang="en-US" dirty="0"/>
              <a:t>References </a:t>
            </a:r>
            <a:endParaRPr lang="en-IN" dirty="0"/>
          </a:p>
        </p:txBody>
      </p:sp>
      <p:sp>
        <p:nvSpPr>
          <p:cNvPr id="3" name="Content Placeholder 2">
            <a:extLst>
              <a:ext uri="{FF2B5EF4-FFF2-40B4-BE49-F238E27FC236}">
                <a16:creationId xmlns:a16="http://schemas.microsoft.com/office/drawing/2014/main" id="{88149172-A215-A878-E3EB-95165D00AF1E}"/>
              </a:ext>
            </a:extLst>
          </p:cNvPr>
          <p:cNvSpPr>
            <a:spLocks noGrp="1"/>
          </p:cNvSpPr>
          <p:nvPr>
            <p:ph idx="1"/>
          </p:nvPr>
        </p:nvSpPr>
        <p:spPr>
          <a:xfrm>
            <a:off x="696687" y="1690688"/>
            <a:ext cx="10515600" cy="4351338"/>
          </a:xfrm>
        </p:spPr>
        <p:txBody>
          <a:bodyPr>
            <a:normAutofit fontScale="62500" lnSpcReduction="20000"/>
          </a:bodyPr>
          <a:lstStyle/>
          <a:p>
            <a:pPr lvl="0"/>
            <a:r>
              <a:rPr lang="en-US" dirty="0"/>
              <a:t>A. Rivera, P. Ponce, O. Mata, A. Molina, and A. Meier, “Local Weather Station Design and Development for Cost-Effective Environmental Monitoring and Real-Time Data Sharing,” Sensors, vol. 23, no. 22, 2023.</a:t>
            </a:r>
            <a:endParaRPr lang="en-IN" dirty="0"/>
          </a:p>
          <a:p>
            <a:pPr lvl="0"/>
            <a:r>
              <a:rPr lang="en-US" dirty="0"/>
              <a:t>H. </a:t>
            </a:r>
            <a:r>
              <a:rPr lang="en-US" dirty="0" err="1"/>
              <a:t>Chourasiya</a:t>
            </a:r>
            <a:r>
              <a:rPr lang="en-US" dirty="0"/>
              <a:t>, P. Sharma, A. [et al.], “IoT-Enabled Real-Time Weather Station Using Arduino and STM32 Microcontrollers,” International Journal of Computer Techniques, vol. 12, no. 4, July–Aug. 2025.</a:t>
            </a:r>
            <a:endParaRPr lang="en-IN" dirty="0"/>
          </a:p>
          <a:p>
            <a:pPr lvl="0" algn="just"/>
            <a:r>
              <a:rPr lang="en-US" dirty="0"/>
              <a:t>A. F. Haque </a:t>
            </a:r>
            <a:r>
              <a:rPr lang="en-US" dirty="0" err="1"/>
              <a:t>Dhrubo</a:t>
            </a:r>
            <a:r>
              <a:rPr lang="en-US" dirty="0"/>
              <a:t>, S. Hasan, M. A. Qayum, “STM32-Based IoT Framework for Real-Time Environmental Monitoring and Wireless Node Synchronization,” </a:t>
            </a:r>
            <a:r>
              <a:rPr lang="en-US" dirty="0" err="1"/>
              <a:t>arXiv</a:t>
            </a:r>
            <a:r>
              <a:rPr lang="en-US" dirty="0"/>
              <a:t> preprint, June 2025</a:t>
            </a:r>
            <a:endParaRPr lang="en-IN" dirty="0"/>
          </a:p>
          <a:p>
            <a:pPr lvl="0"/>
            <a:r>
              <a:rPr lang="en-US" dirty="0"/>
              <a:t>Z. </a:t>
            </a:r>
            <a:r>
              <a:rPr lang="en-US" dirty="0" err="1"/>
              <a:t>Ohemu</a:t>
            </a:r>
            <a:r>
              <a:rPr lang="en-US" dirty="0"/>
              <a:t>, J. Owolabi, H. Ali, “Real-Time Weather Forecasting Using BME280 and STM32 Microcontroller,” Asian Journal of Computer Science and Technology, vol. 14, no. 1, 2025.</a:t>
            </a:r>
            <a:endParaRPr lang="en-IN" dirty="0"/>
          </a:p>
          <a:p>
            <a:pPr lvl="0"/>
            <a:r>
              <a:rPr lang="en-US" dirty="0"/>
              <a:t>Air Quality Monitoring and Alert System Using MQ135 Gas Sensor with Arduino Controller, ResearchGate (2022).</a:t>
            </a:r>
            <a:endParaRPr lang="en-IN" dirty="0"/>
          </a:p>
          <a:p>
            <a:pPr lvl="0"/>
            <a:r>
              <a:rPr lang="en-US" dirty="0"/>
              <a:t>Development of an IoT-Enabled Air Pollution Monitoring and Air Quality Sensor System,” PMC, 2023. </a:t>
            </a:r>
            <a:endParaRPr lang="en-IN" dirty="0"/>
          </a:p>
          <a:p>
            <a:pPr lvl="0"/>
            <a:r>
              <a:rPr lang="en-US" dirty="0"/>
              <a:t>IoT Based Weather Tracker with Data Logging Systems,” D. Samrat et al., 2024.</a:t>
            </a:r>
            <a:endParaRPr lang="en-IN" dirty="0"/>
          </a:p>
          <a:p>
            <a:pPr lvl="0"/>
            <a:r>
              <a:rPr lang="en-US" dirty="0"/>
              <a:t>Air Pollution Detection Using MQ135 and ESP8266,” IJSRET, 2025</a:t>
            </a:r>
            <a:endParaRPr lang="en-IN" dirty="0"/>
          </a:p>
          <a:p>
            <a:pPr lvl="0"/>
            <a:r>
              <a:rPr lang="en-US" dirty="0"/>
              <a:t>X. </a:t>
            </a:r>
            <a:r>
              <a:rPr lang="en-US" dirty="0" err="1"/>
              <a:t>Shengzong</a:t>
            </a:r>
            <a:r>
              <a:rPr lang="en-US" dirty="0"/>
              <a:t> and Y. Li, “Design and Implementation of Wireless Environment Monitoring and Control System,” Journal/Conference X </a:t>
            </a:r>
            <a:endParaRPr lang="en-IN" dirty="0"/>
          </a:p>
        </p:txBody>
      </p:sp>
      <p:pic>
        <p:nvPicPr>
          <p:cNvPr id="4" name="Picture 3">
            <a:extLst>
              <a:ext uri="{FF2B5EF4-FFF2-40B4-BE49-F238E27FC236}">
                <a16:creationId xmlns:a16="http://schemas.microsoft.com/office/drawing/2014/main" id="{470623E8-A3F7-F6A5-589D-9756FB085AA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12287" y="0"/>
            <a:ext cx="947057" cy="94705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9152D952-EE01-7568-8979-139529CFDA9E}"/>
              </a:ext>
            </a:extLst>
          </p:cNvPr>
          <p:cNvSpPr>
            <a:spLocks noGrp="1"/>
          </p:cNvSpPr>
          <p:nvPr>
            <p:ph type="sldNum" sz="quarter" idx="12"/>
          </p:nvPr>
        </p:nvSpPr>
        <p:spPr/>
        <p:txBody>
          <a:bodyPr/>
          <a:lstStyle/>
          <a:p>
            <a:fld id="{7CDFB2E1-A240-42B0-B01C-5FB898363E65}" type="slidenum">
              <a:rPr lang="en-IN" smtClean="0"/>
              <a:t>8</a:t>
            </a:fld>
            <a:endParaRPr lang="en-IN"/>
          </a:p>
        </p:txBody>
      </p:sp>
    </p:spTree>
    <p:extLst>
      <p:ext uri="{BB962C8B-B14F-4D97-AF65-F5344CB8AC3E}">
        <p14:creationId xmlns:p14="http://schemas.microsoft.com/office/powerpoint/2010/main" val="1944191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726C9-5C4A-5539-411F-A31BEC16A06A}"/>
              </a:ext>
            </a:extLst>
          </p:cNvPr>
          <p:cNvSpPr>
            <a:spLocks noGrp="1"/>
          </p:cNvSpPr>
          <p:nvPr>
            <p:ph type="title"/>
          </p:nvPr>
        </p:nvSpPr>
        <p:spPr/>
        <p:txBody>
          <a:bodyPr/>
          <a:lstStyle/>
          <a:p>
            <a:r>
              <a:rPr lang="en-US" dirty="0"/>
              <a:t>Result Images</a:t>
            </a:r>
            <a:endParaRPr lang="en-IN" dirty="0"/>
          </a:p>
        </p:txBody>
      </p:sp>
      <p:pic>
        <p:nvPicPr>
          <p:cNvPr id="6" name="Content Placeholder 5" descr="A circuit board with electronic components&#10;&#10;AI-generated content may be incorrect.">
            <a:extLst>
              <a:ext uri="{FF2B5EF4-FFF2-40B4-BE49-F238E27FC236}">
                <a16:creationId xmlns:a16="http://schemas.microsoft.com/office/drawing/2014/main" id="{D01742EB-078D-A0BD-C252-EF8457E961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05851" y="1492166"/>
            <a:ext cx="2580296" cy="1936834"/>
          </a:xfrm>
        </p:spPr>
      </p:pic>
      <p:sp>
        <p:nvSpPr>
          <p:cNvPr id="4" name="Slide Number Placeholder 3">
            <a:extLst>
              <a:ext uri="{FF2B5EF4-FFF2-40B4-BE49-F238E27FC236}">
                <a16:creationId xmlns:a16="http://schemas.microsoft.com/office/drawing/2014/main" id="{0E37708C-7716-45FA-9C13-558A2256716F}"/>
              </a:ext>
            </a:extLst>
          </p:cNvPr>
          <p:cNvSpPr>
            <a:spLocks noGrp="1"/>
          </p:cNvSpPr>
          <p:nvPr>
            <p:ph type="sldNum" sz="quarter" idx="12"/>
          </p:nvPr>
        </p:nvSpPr>
        <p:spPr/>
        <p:txBody>
          <a:bodyPr/>
          <a:lstStyle/>
          <a:p>
            <a:fld id="{7CDFB2E1-A240-42B0-B01C-5FB898363E65}" type="slidenum">
              <a:rPr lang="en-IN" smtClean="0"/>
              <a:t>9</a:t>
            </a:fld>
            <a:endParaRPr lang="en-IN"/>
          </a:p>
        </p:txBody>
      </p:sp>
      <p:pic>
        <p:nvPicPr>
          <p:cNvPr id="8" name="Picture 7" descr="A green circuit board with a display and other electronic components&#10;&#10;AI-generated content may be incorrect.">
            <a:extLst>
              <a:ext uri="{FF2B5EF4-FFF2-40B4-BE49-F238E27FC236}">
                <a16:creationId xmlns:a16="http://schemas.microsoft.com/office/drawing/2014/main" id="{177B96C7-72F3-8714-60A3-159526E383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92052" y="1492165"/>
            <a:ext cx="2580295" cy="1936835"/>
          </a:xfrm>
          <a:prstGeom prst="rect">
            <a:avLst/>
          </a:prstGeom>
        </p:spPr>
      </p:pic>
      <p:pic>
        <p:nvPicPr>
          <p:cNvPr id="12" name="Picture 11" descr="A green circuit board with a display and other electronic components&#10;&#10;AI-generated content may be incorrect.">
            <a:extLst>
              <a:ext uri="{FF2B5EF4-FFF2-40B4-BE49-F238E27FC236}">
                <a16:creationId xmlns:a16="http://schemas.microsoft.com/office/drawing/2014/main" id="{00AD68D2-00C9-5855-E5F6-89A500F614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62912" y="4209280"/>
            <a:ext cx="2580296" cy="1936836"/>
          </a:xfrm>
          <a:prstGeom prst="rect">
            <a:avLst/>
          </a:prstGeom>
        </p:spPr>
      </p:pic>
      <p:pic>
        <p:nvPicPr>
          <p:cNvPr id="14" name="Picture 13" descr="A green circuit board with a screen and a display&#10;&#10;AI-generated content may be incorrect.">
            <a:extLst>
              <a:ext uri="{FF2B5EF4-FFF2-40B4-BE49-F238E27FC236}">
                <a16:creationId xmlns:a16="http://schemas.microsoft.com/office/drawing/2014/main" id="{2515297D-B872-9E1F-E02C-D77305DA8F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48792" y="4209280"/>
            <a:ext cx="2580294" cy="1936834"/>
          </a:xfrm>
          <a:prstGeom prst="rect">
            <a:avLst/>
          </a:prstGeom>
        </p:spPr>
      </p:pic>
      <p:pic>
        <p:nvPicPr>
          <p:cNvPr id="16" name="Picture 15" descr="A digital display and other electronic components on a green surface&#10;&#10;AI-generated content may be incorrect.">
            <a:extLst>
              <a:ext uri="{FF2B5EF4-FFF2-40B4-BE49-F238E27FC236}">
                <a16:creationId xmlns:a16="http://schemas.microsoft.com/office/drawing/2014/main" id="{D9F05F70-3CC2-A3CF-3885-0E1E926EE09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200" y="1492165"/>
            <a:ext cx="2580295" cy="1936835"/>
          </a:xfrm>
          <a:prstGeom prst="rect">
            <a:avLst/>
          </a:prstGeom>
        </p:spPr>
      </p:pic>
      <p:sp>
        <p:nvSpPr>
          <p:cNvPr id="17" name="TextBox 16">
            <a:extLst>
              <a:ext uri="{FF2B5EF4-FFF2-40B4-BE49-F238E27FC236}">
                <a16:creationId xmlns:a16="http://schemas.microsoft.com/office/drawing/2014/main" id="{14FB6E0A-3833-9647-90BA-02B69A1AB7B8}"/>
              </a:ext>
            </a:extLst>
          </p:cNvPr>
          <p:cNvSpPr txBox="1"/>
          <p:nvPr/>
        </p:nvSpPr>
        <p:spPr>
          <a:xfrm>
            <a:off x="1034845" y="3578328"/>
            <a:ext cx="2580294" cy="383458"/>
          </a:xfrm>
          <a:prstGeom prst="rect">
            <a:avLst/>
          </a:prstGeom>
          <a:noFill/>
        </p:spPr>
        <p:txBody>
          <a:bodyPr wrap="square" rtlCol="0">
            <a:spAutoFit/>
          </a:bodyPr>
          <a:lstStyle/>
          <a:p>
            <a:r>
              <a:rPr lang="en-US" dirty="0"/>
              <a:t>Temperature reading</a:t>
            </a:r>
            <a:endParaRPr lang="en-IN" dirty="0"/>
          </a:p>
        </p:txBody>
      </p:sp>
      <p:sp>
        <p:nvSpPr>
          <p:cNvPr id="18" name="TextBox 17">
            <a:extLst>
              <a:ext uri="{FF2B5EF4-FFF2-40B4-BE49-F238E27FC236}">
                <a16:creationId xmlns:a16="http://schemas.microsoft.com/office/drawing/2014/main" id="{DEEF3FA7-0C5E-C423-D2C2-CAE4FBDDF74A}"/>
              </a:ext>
            </a:extLst>
          </p:cNvPr>
          <p:cNvSpPr txBox="1"/>
          <p:nvPr/>
        </p:nvSpPr>
        <p:spPr>
          <a:xfrm>
            <a:off x="8915172" y="3528976"/>
            <a:ext cx="2580294" cy="383458"/>
          </a:xfrm>
          <a:prstGeom prst="rect">
            <a:avLst/>
          </a:prstGeom>
          <a:noFill/>
        </p:spPr>
        <p:txBody>
          <a:bodyPr wrap="square" rtlCol="0">
            <a:spAutoFit/>
          </a:bodyPr>
          <a:lstStyle/>
          <a:p>
            <a:r>
              <a:rPr lang="en-US" dirty="0"/>
              <a:t>LDR Sensor reading</a:t>
            </a:r>
            <a:endParaRPr lang="en-IN" dirty="0"/>
          </a:p>
        </p:txBody>
      </p:sp>
      <p:sp>
        <p:nvSpPr>
          <p:cNvPr id="20" name="TextBox 19">
            <a:extLst>
              <a:ext uri="{FF2B5EF4-FFF2-40B4-BE49-F238E27FC236}">
                <a16:creationId xmlns:a16="http://schemas.microsoft.com/office/drawing/2014/main" id="{D7F03C7C-4DA1-9839-9CF6-577370EB5C15}"/>
              </a:ext>
            </a:extLst>
          </p:cNvPr>
          <p:cNvSpPr txBox="1"/>
          <p:nvPr/>
        </p:nvSpPr>
        <p:spPr>
          <a:xfrm>
            <a:off x="7625025" y="6182553"/>
            <a:ext cx="2580294" cy="383458"/>
          </a:xfrm>
          <a:prstGeom prst="rect">
            <a:avLst/>
          </a:prstGeom>
          <a:noFill/>
        </p:spPr>
        <p:txBody>
          <a:bodyPr wrap="square" rtlCol="0">
            <a:spAutoFit/>
          </a:bodyPr>
          <a:lstStyle/>
          <a:p>
            <a:r>
              <a:rPr lang="en-US" dirty="0"/>
              <a:t>Air Quality reading</a:t>
            </a:r>
            <a:endParaRPr lang="en-IN" dirty="0"/>
          </a:p>
        </p:txBody>
      </p:sp>
      <p:sp>
        <p:nvSpPr>
          <p:cNvPr id="21" name="TextBox 20">
            <a:extLst>
              <a:ext uri="{FF2B5EF4-FFF2-40B4-BE49-F238E27FC236}">
                <a16:creationId xmlns:a16="http://schemas.microsoft.com/office/drawing/2014/main" id="{11E9FAC4-0F94-7E7B-E367-4BED30A36748}"/>
              </a:ext>
            </a:extLst>
          </p:cNvPr>
          <p:cNvSpPr txBox="1"/>
          <p:nvPr/>
        </p:nvSpPr>
        <p:spPr>
          <a:xfrm>
            <a:off x="2676832" y="6230762"/>
            <a:ext cx="2580294" cy="383458"/>
          </a:xfrm>
          <a:prstGeom prst="rect">
            <a:avLst/>
          </a:prstGeom>
          <a:noFill/>
        </p:spPr>
        <p:txBody>
          <a:bodyPr wrap="square" rtlCol="0">
            <a:spAutoFit/>
          </a:bodyPr>
          <a:lstStyle/>
          <a:p>
            <a:r>
              <a:rPr lang="en-US" dirty="0"/>
              <a:t>Rain Level reading</a:t>
            </a:r>
            <a:endParaRPr lang="en-IN" dirty="0"/>
          </a:p>
        </p:txBody>
      </p:sp>
      <p:sp>
        <p:nvSpPr>
          <p:cNvPr id="22" name="TextBox 21">
            <a:extLst>
              <a:ext uri="{FF2B5EF4-FFF2-40B4-BE49-F238E27FC236}">
                <a16:creationId xmlns:a16="http://schemas.microsoft.com/office/drawing/2014/main" id="{1313ACE1-528E-9276-38DE-E84586D09F8F}"/>
              </a:ext>
            </a:extLst>
          </p:cNvPr>
          <p:cNvSpPr txBox="1"/>
          <p:nvPr/>
        </p:nvSpPr>
        <p:spPr>
          <a:xfrm>
            <a:off x="5257126" y="3515829"/>
            <a:ext cx="2580294" cy="383458"/>
          </a:xfrm>
          <a:prstGeom prst="rect">
            <a:avLst/>
          </a:prstGeom>
          <a:noFill/>
        </p:spPr>
        <p:txBody>
          <a:bodyPr wrap="square" rtlCol="0">
            <a:spAutoFit/>
          </a:bodyPr>
          <a:lstStyle/>
          <a:p>
            <a:r>
              <a:rPr lang="en-US" dirty="0"/>
              <a:t>Humidity reading</a:t>
            </a:r>
            <a:endParaRPr lang="en-IN" dirty="0"/>
          </a:p>
        </p:txBody>
      </p:sp>
    </p:spTree>
    <p:extLst>
      <p:ext uri="{BB962C8B-B14F-4D97-AF65-F5344CB8AC3E}">
        <p14:creationId xmlns:p14="http://schemas.microsoft.com/office/powerpoint/2010/main" val="1871954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13BF9-A568-221D-B279-CD03E3AB729B}"/>
              </a:ext>
            </a:extLst>
          </p:cNvPr>
          <p:cNvSpPr>
            <a:spLocks noGrp="1"/>
          </p:cNvSpPr>
          <p:nvPr>
            <p:ph type="title"/>
          </p:nvPr>
        </p:nvSpPr>
        <p:spPr/>
        <p:txBody>
          <a:bodyPr/>
          <a:lstStyle/>
          <a:p>
            <a:r>
              <a:rPr lang="en-US" dirty="0"/>
              <a:t>Observed Readings</a:t>
            </a:r>
            <a:endParaRPr lang="en-IN" dirty="0"/>
          </a:p>
        </p:txBody>
      </p:sp>
      <p:graphicFrame>
        <p:nvGraphicFramePr>
          <p:cNvPr id="5" name="Content Placeholder 4">
            <a:extLst>
              <a:ext uri="{FF2B5EF4-FFF2-40B4-BE49-F238E27FC236}">
                <a16:creationId xmlns:a16="http://schemas.microsoft.com/office/drawing/2014/main" id="{A7E16C6D-007D-4E2A-390C-D4E9875F3AB7}"/>
              </a:ext>
            </a:extLst>
          </p:cNvPr>
          <p:cNvGraphicFramePr>
            <a:graphicFrameLocks noGrp="1"/>
          </p:cNvGraphicFramePr>
          <p:nvPr>
            <p:ph idx="1"/>
            <p:extLst>
              <p:ext uri="{D42A27DB-BD31-4B8C-83A1-F6EECF244321}">
                <p14:modId xmlns:p14="http://schemas.microsoft.com/office/powerpoint/2010/main" val="4169267340"/>
              </p:ext>
            </p:extLst>
          </p:nvPr>
        </p:nvGraphicFramePr>
        <p:xfrm>
          <a:off x="838200" y="1825625"/>
          <a:ext cx="10515600" cy="259588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767656252"/>
                    </a:ext>
                  </a:extLst>
                </a:gridCol>
                <a:gridCol w="2103120">
                  <a:extLst>
                    <a:ext uri="{9D8B030D-6E8A-4147-A177-3AD203B41FA5}">
                      <a16:colId xmlns:a16="http://schemas.microsoft.com/office/drawing/2014/main" val="3898957781"/>
                    </a:ext>
                  </a:extLst>
                </a:gridCol>
                <a:gridCol w="2103120">
                  <a:extLst>
                    <a:ext uri="{9D8B030D-6E8A-4147-A177-3AD203B41FA5}">
                      <a16:colId xmlns:a16="http://schemas.microsoft.com/office/drawing/2014/main" val="1104228615"/>
                    </a:ext>
                  </a:extLst>
                </a:gridCol>
                <a:gridCol w="2103120">
                  <a:extLst>
                    <a:ext uri="{9D8B030D-6E8A-4147-A177-3AD203B41FA5}">
                      <a16:colId xmlns:a16="http://schemas.microsoft.com/office/drawing/2014/main" val="3121312763"/>
                    </a:ext>
                  </a:extLst>
                </a:gridCol>
                <a:gridCol w="2103120">
                  <a:extLst>
                    <a:ext uri="{9D8B030D-6E8A-4147-A177-3AD203B41FA5}">
                      <a16:colId xmlns:a16="http://schemas.microsoft.com/office/drawing/2014/main" val="1878340387"/>
                    </a:ext>
                  </a:extLst>
                </a:gridCol>
              </a:tblGrid>
              <a:tr h="370840">
                <a:tc>
                  <a:txBody>
                    <a:bodyPr/>
                    <a:lstStyle/>
                    <a:p>
                      <a:pPr>
                        <a:buNone/>
                      </a:pPr>
                      <a:r>
                        <a:rPr lang="en-IN" dirty="0"/>
                        <a:t>Parameter</a:t>
                      </a:r>
                    </a:p>
                  </a:txBody>
                  <a:tcPr anchor="ctr"/>
                </a:tc>
                <a:tc>
                  <a:txBody>
                    <a:bodyPr/>
                    <a:lstStyle/>
                    <a:p>
                      <a:pPr>
                        <a:buNone/>
                      </a:pPr>
                      <a:r>
                        <a:rPr lang="en-IN"/>
                        <a:t>Sensor Used</a:t>
                      </a:r>
                    </a:p>
                  </a:txBody>
                  <a:tcPr anchor="ctr"/>
                </a:tc>
                <a:tc>
                  <a:txBody>
                    <a:bodyPr/>
                    <a:lstStyle/>
                    <a:p>
                      <a:pPr>
                        <a:buNone/>
                      </a:pPr>
                      <a:r>
                        <a:rPr lang="en-IN"/>
                        <a:t>Typical Range</a:t>
                      </a:r>
                    </a:p>
                  </a:txBody>
                  <a:tcPr anchor="ctr"/>
                </a:tc>
                <a:tc>
                  <a:txBody>
                    <a:bodyPr/>
                    <a:lstStyle/>
                    <a:p>
                      <a:pPr>
                        <a:buNone/>
                      </a:pPr>
                      <a:r>
                        <a:rPr lang="en-IN"/>
                        <a:t>Observed Value</a:t>
                      </a:r>
                    </a:p>
                  </a:txBody>
                  <a:tcPr anchor="ctr"/>
                </a:tc>
                <a:tc>
                  <a:txBody>
                    <a:bodyPr/>
                    <a:lstStyle/>
                    <a:p>
                      <a:pPr>
                        <a:buNone/>
                      </a:pPr>
                      <a:r>
                        <a:rPr lang="en-IN"/>
                        <a:t>Unit</a:t>
                      </a:r>
                    </a:p>
                  </a:txBody>
                  <a:tcPr anchor="ctr"/>
                </a:tc>
                <a:extLst>
                  <a:ext uri="{0D108BD9-81ED-4DB2-BD59-A6C34878D82A}">
                    <a16:rowId xmlns:a16="http://schemas.microsoft.com/office/drawing/2014/main" val="2284562121"/>
                  </a:ext>
                </a:extLst>
              </a:tr>
              <a:tr h="370840">
                <a:tc>
                  <a:txBody>
                    <a:bodyPr/>
                    <a:lstStyle/>
                    <a:p>
                      <a:pPr>
                        <a:buNone/>
                      </a:pPr>
                      <a:r>
                        <a:rPr lang="en-IN"/>
                        <a:t>Temperature</a:t>
                      </a:r>
                    </a:p>
                  </a:txBody>
                  <a:tcPr anchor="ctr"/>
                </a:tc>
                <a:tc>
                  <a:txBody>
                    <a:bodyPr/>
                    <a:lstStyle/>
                    <a:p>
                      <a:pPr>
                        <a:buNone/>
                      </a:pPr>
                      <a:r>
                        <a:rPr lang="en-IN"/>
                        <a:t>BMP280</a:t>
                      </a:r>
                    </a:p>
                  </a:txBody>
                  <a:tcPr anchor="ctr"/>
                </a:tc>
                <a:tc>
                  <a:txBody>
                    <a:bodyPr/>
                    <a:lstStyle/>
                    <a:p>
                      <a:pPr>
                        <a:buNone/>
                      </a:pPr>
                      <a:r>
                        <a:rPr lang="en-IN"/>
                        <a:t>-40 to 85</a:t>
                      </a:r>
                    </a:p>
                  </a:txBody>
                  <a:tcPr anchor="ctr"/>
                </a:tc>
                <a:tc>
                  <a:txBody>
                    <a:bodyPr/>
                    <a:lstStyle/>
                    <a:p>
                      <a:pPr>
                        <a:buNone/>
                      </a:pPr>
                      <a:r>
                        <a:rPr lang="en-IN"/>
                        <a:t>30.4</a:t>
                      </a:r>
                    </a:p>
                  </a:txBody>
                  <a:tcPr anchor="ctr"/>
                </a:tc>
                <a:tc>
                  <a:txBody>
                    <a:bodyPr/>
                    <a:lstStyle/>
                    <a:p>
                      <a:pPr>
                        <a:buNone/>
                      </a:pPr>
                      <a:r>
                        <a:rPr lang="en-IN"/>
                        <a:t>°C</a:t>
                      </a:r>
                    </a:p>
                  </a:txBody>
                  <a:tcPr anchor="ctr"/>
                </a:tc>
                <a:extLst>
                  <a:ext uri="{0D108BD9-81ED-4DB2-BD59-A6C34878D82A}">
                    <a16:rowId xmlns:a16="http://schemas.microsoft.com/office/drawing/2014/main" val="1760442257"/>
                  </a:ext>
                </a:extLst>
              </a:tr>
              <a:tr h="370840">
                <a:tc>
                  <a:txBody>
                    <a:bodyPr/>
                    <a:lstStyle/>
                    <a:p>
                      <a:pPr>
                        <a:buNone/>
                      </a:pPr>
                      <a:r>
                        <a:rPr lang="en-IN"/>
                        <a:t>Humidity</a:t>
                      </a:r>
                    </a:p>
                  </a:txBody>
                  <a:tcPr anchor="ctr"/>
                </a:tc>
                <a:tc>
                  <a:txBody>
                    <a:bodyPr/>
                    <a:lstStyle/>
                    <a:p>
                      <a:pPr>
                        <a:buNone/>
                      </a:pPr>
                      <a:r>
                        <a:rPr lang="en-IN"/>
                        <a:t>DHT11</a:t>
                      </a:r>
                    </a:p>
                  </a:txBody>
                  <a:tcPr anchor="ctr"/>
                </a:tc>
                <a:tc>
                  <a:txBody>
                    <a:bodyPr/>
                    <a:lstStyle/>
                    <a:p>
                      <a:pPr>
                        <a:buNone/>
                      </a:pPr>
                      <a:r>
                        <a:rPr lang="en-IN"/>
                        <a:t>20–90</a:t>
                      </a:r>
                    </a:p>
                  </a:txBody>
                  <a:tcPr anchor="ctr"/>
                </a:tc>
                <a:tc>
                  <a:txBody>
                    <a:bodyPr/>
                    <a:lstStyle/>
                    <a:p>
                      <a:pPr>
                        <a:buNone/>
                      </a:pPr>
                      <a:r>
                        <a:rPr lang="en-IN"/>
                        <a:t>58</a:t>
                      </a:r>
                    </a:p>
                  </a:txBody>
                  <a:tcPr anchor="ctr"/>
                </a:tc>
                <a:tc>
                  <a:txBody>
                    <a:bodyPr/>
                    <a:lstStyle/>
                    <a:p>
                      <a:pPr>
                        <a:buNone/>
                      </a:pPr>
                      <a:r>
                        <a:rPr lang="en-IN"/>
                        <a:t>%</a:t>
                      </a:r>
                    </a:p>
                  </a:txBody>
                  <a:tcPr anchor="ctr"/>
                </a:tc>
                <a:extLst>
                  <a:ext uri="{0D108BD9-81ED-4DB2-BD59-A6C34878D82A}">
                    <a16:rowId xmlns:a16="http://schemas.microsoft.com/office/drawing/2014/main" val="872433879"/>
                  </a:ext>
                </a:extLst>
              </a:tr>
              <a:tr h="370840">
                <a:tc>
                  <a:txBody>
                    <a:bodyPr/>
                    <a:lstStyle/>
                    <a:p>
                      <a:pPr>
                        <a:buNone/>
                      </a:pPr>
                      <a:r>
                        <a:rPr lang="en-IN"/>
                        <a:t>Pressure</a:t>
                      </a:r>
                    </a:p>
                  </a:txBody>
                  <a:tcPr anchor="ctr"/>
                </a:tc>
                <a:tc>
                  <a:txBody>
                    <a:bodyPr/>
                    <a:lstStyle/>
                    <a:p>
                      <a:pPr>
                        <a:buNone/>
                      </a:pPr>
                      <a:r>
                        <a:rPr lang="en-IN"/>
                        <a:t>BMP280</a:t>
                      </a:r>
                    </a:p>
                  </a:txBody>
                  <a:tcPr anchor="ctr"/>
                </a:tc>
                <a:tc>
                  <a:txBody>
                    <a:bodyPr/>
                    <a:lstStyle/>
                    <a:p>
                      <a:pPr>
                        <a:buNone/>
                      </a:pPr>
                      <a:r>
                        <a:rPr lang="en-IN"/>
                        <a:t>300–1100</a:t>
                      </a:r>
                    </a:p>
                  </a:txBody>
                  <a:tcPr anchor="ctr"/>
                </a:tc>
                <a:tc>
                  <a:txBody>
                    <a:bodyPr/>
                    <a:lstStyle/>
                    <a:p>
                      <a:pPr>
                        <a:buNone/>
                      </a:pPr>
                      <a:r>
                        <a:rPr lang="en-IN"/>
                        <a:t>1007.2</a:t>
                      </a:r>
                    </a:p>
                  </a:txBody>
                  <a:tcPr anchor="ctr"/>
                </a:tc>
                <a:tc>
                  <a:txBody>
                    <a:bodyPr/>
                    <a:lstStyle/>
                    <a:p>
                      <a:pPr>
                        <a:buNone/>
                      </a:pPr>
                      <a:r>
                        <a:rPr lang="en-IN"/>
                        <a:t>hPa</a:t>
                      </a:r>
                    </a:p>
                  </a:txBody>
                  <a:tcPr anchor="ctr"/>
                </a:tc>
                <a:extLst>
                  <a:ext uri="{0D108BD9-81ED-4DB2-BD59-A6C34878D82A}">
                    <a16:rowId xmlns:a16="http://schemas.microsoft.com/office/drawing/2014/main" val="1314063580"/>
                  </a:ext>
                </a:extLst>
              </a:tr>
              <a:tr h="370840">
                <a:tc>
                  <a:txBody>
                    <a:bodyPr/>
                    <a:lstStyle/>
                    <a:p>
                      <a:pPr>
                        <a:buNone/>
                      </a:pPr>
                      <a:r>
                        <a:rPr lang="en-IN"/>
                        <a:t>Air Quality</a:t>
                      </a:r>
                    </a:p>
                  </a:txBody>
                  <a:tcPr anchor="ctr"/>
                </a:tc>
                <a:tc>
                  <a:txBody>
                    <a:bodyPr/>
                    <a:lstStyle/>
                    <a:p>
                      <a:pPr>
                        <a:buNone/>
                      </a:pPr>
                      <a:r>
                        <a:rPr lang="en-IN"/>
                        <a:t>MQ135</a:t>
                      </a:r>
                    </a:p>
                  </a:txBody>
                  <a:tcPr anchor="ctr"/>
                </a:tc>
                <a:tc>
                  <a:txBody>
                    <a:bodyPr/>
                    <a:lstStyle/>
                    <a:p>
                      <a:pPr>
                        <a:buNone/>
                      </a:pPr>
                      <a:r>
                        <a:rPr lang="en-IN"/>
                        <a:t>0–1023 (ADC)</a:t>
                      </a:r>
                    </a:p>
                  </a:txBody>
                  <a:tcPr anchor="ctr"/>
                </a:tc>
                <a:tc>
                  <a:txBody>
                    <a:bodyPr/>
                    <a:lstStyle/>
                    <a:p>
                      <a:pPr>
                        <a:buNone/>
                      </a:pPr>
                      <a:r>
                        <a:rPr lang="en-IN"/>
                        <a:t>324</a:t>
                      </a:r>
                    </a:p>
                  </a:txBody>
                  <a:tcPr anchor="ctr"/>
                </a:tc>
                <a:tc>
                  <a:txBody>
                    <a:bodyPr/>
                    <a:lstStyle/>
                    <a:p>
                      <a:pPr>
                        <a:buNone/>
                      </a:pPr>
                      <a:r>
                        <a:rPr lang="en-IN"/>
                        <a:t>ADC units</a:t>
                      </a:r>
                    </a:p>
                  </a:txBody>
                  <a:tcPr anchor="ctr"/>
                </a:tc>
                <a:extLst>
                  <a:ext uri="{0D108BD9-81ED-4DB2-BD59-A6C34878D82A}">
                    <a16:rowId xmlns:a16="http://schemas.microsoft.com/office/drawing/2014/main" val="2371850863"/>
                  </a:ext>
                </a:extLst>
              </a:tr>
              <a:tr h="370840">
                <a:tc>
                  <a:txBody>
                    <a:bodyPr/>
                    <a:lstStyle/>
                    <a:p>
                      <a:pPr>
                        <a:buNone/>
                      </a:pPr>
                      <a:r>
                        <a:rPr lang="en-IN"/>
                        <a:t>Rain Level</a:t>
                      </a:r>
                    </a:p>
                  </a:txBody>
                  <a:tcPr anchor="ctr"/>
                </a:tc>
                <a:tc>
                  <a:txBody>
                    <a:bodyPr/>
                    <a:lstStyle/>
                    <a:p>
                      <a:pPr>
                        <a:buNone/>
                      </a:pPr>
                      <a:r>
                        <a:rPr lang="en-IN"/>
                        <a:t>HW-103</a:t>
                      </a:r>
                    </a:p>
                  </a:txBody>
                  <a:tcPr anchor="ctr"/>
                </a:tc>
                <a:tc>
                  <a:txBody>
                    <a:bodyPr/>
                    <a:lstStyle/>
                    <a:p>
                      <a:pPr>
                        <a:buNone/>
                      </a:pPr>
                      <a:r>
                        <a:rPr lang="en-IN" dirty="0"/>
                        <a:t>0–4000 (ADC)</a:t>
                      </a:r>
                    </a:p>
                  </a:txBody>
                  <a:tcPr anchor="ctr"/>
                </a:tc>
                <a:tc>
                  <a:txBody>
                    <a:bodyPr/>
                    <a:lstStyle/>
                    <a:p>
                      <a:pPr>
                        <a:buNone/>
                      </a:pPr>
                      <a:r>
                        <a:rPr lang="en-IN" dirty="0"/>
                        <a:t>2541 (dry)</a:t>
                      </a:r>
                    </a:p>
                  </a:txBody>
                  <a:tcPr anchor="ctr"/>
                </a:tc>
                <a:tc>
                  <a:txBody>
                    <a:bodyPr/>
                    <a:lstStyle/>
                    <a:p>
                      <a:pPr>
                        <a:buNone/>
                      </a:pPr>
                      <a:r>
                        <a:rPr lang="en-IN"/>
                        <a:t>ADC units</a:t>
                      </a:r>
                    </a:p>
                  </a:txBody>
                  <a:tcPr anchor="ctr"/>
                </a:tc>
                <a:extLst>
                  <a:ext uri="{0D108BD9-81ED-4DB2-BD59-A6C34878D82A}">
                    <a16:rowId xmlns:a16="http://schemas.microsoft.com/office/drawing/2014/main" val="920106621"/>
                  </a:ext>
                </a:extLst>
              </a:tr>
              <a:tr h="370840">
                <a:tc>
                  <a:txBody>
                    <a:bodyPr/>
                    <a:lstStyle/>
                    <a:p>
                      <a:pPr>
                        <a:buNone/>
                      </a:pPr>
                      <a:r>
                        <a:rPr lang="en-IN"/>
                        <a:t>Light Level</a:t>
                      </a:r>
                    </a:p>
                  </a:txBody>
                  <a:tcPr anchor="ctr"/>
                </a:tc>
                <a:tc>
                  <a:txBody>
                    <a:bodyPr/>
                    <a:lstStyle/>
                    <a:p>
                      <a:pPr>
                        <a:buNone/>
                      </a:pPr>
                      <a:r>
                        <a:rPr lang="en-IN"/>
                        <a:t>LDR</a:t>
                      </a:r>
                    </a:p>
                  </a:txBody>
                  <a:tcPr anchor="ctr"/>
                </a:tc>
                <a:tc>
                  <a:txBody>
                    <a:bodyPr/>
                    <a:lstStyle/>
                    <a:p>
                      <a:pPr>
                        <a:buNone/>
                      </a:pPr>
                      <a:r>
                        <a:rPr lang="en-IN"/>
                        <a:t>Digital (0/1)</a:t>
                      </a:r>
                    </a:p>
                  </a:txBody>
                  <a:tcPr anchor="ctr"/>
                </a:tc>
                <a:tc>
                  <a:txBody>
                    <a:bodyPr/>
                    <a:lstStyle/>
                    <a:p>
                      <a:pPr>
                        <a:buNone/>
                      </a:pPr>
                      <a:r>
                        <a:rPr lang="en-IN"/>
                        <a:t>Bright = 1</a:t>
                      </a:r>
                    </a:p>
                  </a:txBody>
                  <a:tcPr anchor="ctr"/>
                </a:tc>
                <a:tc>
                  <a:txBody>
                    <a:bodyPr/>
                    <a:lstStyle/>
                    <a:p>
                      <a:pPr>
                        <a:buNone/>
                      </a:pPr>
                      <a:r>
                        <a:rPr lang="en-IN" dirty="0"/>
                        <a:t>—</a:t>
                      </a:r>
                    </a:p>
                  </a:txBody>
                  <a:tcPr anchor="ctr"/>
                </a:tc>
                <a:extLst>
                  <a:ext uri="{0D108BD9-81ED-4DB2-BD59-A6C34878D82A}">
                    <a16:rowId xmlns:a16="http://schemas.microsoft.com/office/drawing/2014/main" val="3550691017"/>
                  </a:ext>
                </a:extLst>
              </a:tr>
            </a:tbl>
          </a:graphicData>
        </a:graphic>
      </p:graphicFrame>
      <p:sp>
        <p:nvSpPr>
          <p:cNvPr id="4" name="Slide Number Placeholder 3">
            <a:extLst>
              <a:ext uri="{FF2B5EF4-FFF2-40B4-BE49-F238E27FC236}">
                <a16:creationId xmlns:a16="http://schemas.microsoft.com/office/drawing/2014/main" id="{B8AF1F3D-5427-75E9-7881-A2D4FF2299EE}"/>
              </a:ext>
            </a:extLst>
          </p:cNvPr>
          <p:cNvSpPr>
            <a:spLocks noGrp="1"/>
          </p:cNvSpPr>
          <p:nvPr>
            <p:ph type="sldNum" sz="quarter" idx="12"/>
          </p:nvPr>
        </p:nvSpPr>
        <p:spPr/>
        <p:txBody>
          <a:bodyPr/>
          <a:lstStyle/>
          <a:p>
            <a:fld id="{7CDFB2E1-A240-42B0-B01C-5FB898363E65}" type="slidenum">
              <a:rPr lang="en-IN" smtClean="0"/>
              <a:t>10</a:t>
            </a:fld>
            <a:endParaRPr lang="en-IN"/>
          </a:p>
        </p:txBody>
      </p:sp>
    </p:spTree>
    <p:extLst>
      <p:ext uri="{BB962C8B-B14F-4D97-AF65-F5344CB8AC3E}">
        <p14:creationId xmlns:p14="http://schemas.microsoft.com/office/powerpoint/2010/main" val="333316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8449B-9C99-B400-F768-505DEF8158A7}"/>
              </a:ext>
            </a:extLst>
          </p:cNvPr>
          <p:cNvSpPr>
            <a:spLocks noGrp="1"/>
          </p:cNvSpPr>
          <p:nvPr>
            <p:ph type="title"/>
          </p:nvPr>
        </p:nvSpPr>
        <p:spPr/>
        <p:txBody>
          <a:bodyPr/>
          <a:lstStyle/>
          <a:p>
            <a:r>
              <a:rPr lang="en-US" dirty="0"/>
              <a:t>Result </a:t>
            </a:r>
            <a:endParaRPr lang="en-IN" dirty="0"/>
          </a:p>
        </p:txBody>
      </p:sp>
      <p:sp>
        <p:nvSpPr>
          <p:cNvPr id="3" name="Content Placeholder 2">
            <a:extLst>
              <a:ext uri="{FF2B5EF4-FFF2-40B4-BE49-F238E27FC236}">
                <a16:creationId xmlns:a16="http://schemas.microsoft.com/office/drawing/2014/main" id="{7F491717-35CD-1B6B-2CB6-ED2B957ACD40}"/>
              </a:ext>
            </a:extLst>
          </p:cNvPr>
          <p:cNvSpPr>
            <a:spLocks noGrp="1"/>
          </p:cNvSpPr>
          <p:nvPr>
            <p:ph idx="1"/>
          </p:nvPr>
        </p:nvSpPr>
        <p:spPr/>
        <p:txBody>
          <a:bodyPr>
            <a:normAutofit/>
          </a:bodyPr>
          <a:lstStyle/>
          <a:p>
            <a:pPr marL="0" indent="0" algn="just">
              <a:lnSpc>
                <a:spcPct val="100000"/>
              </a:lnSpc>
              <a:buNone/>
            </a:pPr>
            <a:r>
              <a:rPr lang="en-US" sz="2400" dirty="0"/>
              <a:t>The weather monitoring system was successfully implemented using the STM32 microcontroller with a 16×2 I²C LCD for real-time display. The setup accurately measured temperature, humidity, pressure, air quality, rainfall, and light intensity. The BMP280 provided stable temperature and pressure readings, while the DHT11 delivered reliable humidity data. The MQ135, rain, and LDR sensors responded effectively to environmental changes. All readings were displayed clearly without flicker, confirming stable STM32 operation and efficient sensor communication. The results closely matched reference values, validating the system’s accuracy and reliability.</a:t>
            </a:r>
            <a:endParaRPr lang="en-IN" sz="2400" dirty="0"/>
          </a:p>
        </p:txBody>
      </p:sp>
      <p:sp>
        <p:nvSpPr>
          <p:cNvPr id="4" name="Slide Number Placeholder 3">
            <a:extLst>
              <a:ext uri="{FF2B5EF4-FFF2-40B4-BE49-F238E27FC236}">
                <a16:creationId xmlns:a16="http://schemas.microsoft.com/office/drawing/2014/main" id="{23B241A8-D109-9453-BDF1-B0B2518F3A79}"/>
              </a:ext>
            </a:extLst>
          </p:cNvPr>
          <p:cNvSpPr>
            <a:spLocks noGrp="1"/>
          </p:cNvSpPr>
          <p:nvPr>
            <p:ph type="sldNum" sz="quarter" idx="12"/>
          </p:nvPr>
        </p:nvSpPr>
        <p:spPr/>
        <p:txBody>
          <a:bodyPr/>
          <a:lstStyle/>
          <a:p>
            <a:fld id="{7CDFB2E1-A240-42B0-B01C-5FB898363E65}" type="slidenum">
              <a:rPr lang="en-IN" smtClean="0"/>
              <a:t>11</a:t>
            </a:fld>
            <a:endParaRPr lang="en-IN"/>
          </a:p>
        </p:txBody>
      </p:sp>
    </p:spTree>
    <p:extLst>
      <p:ext uri="{BB962C8B-B14F-4D97-AF65-F5344CB8AC3E}">
        <p14:creationId xmlns:p14="http://schemas.microsoft.com/office/powerpoint/2010/main" val="11638607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310</TotalTime>
  <Words>1036</Words>
  <Application>Microsoft Office PowerPoint</Application>
  <PresentationFormat>Widescreen</PresentationFormat>
  <Paragraphs>130</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Arial Nova</vt:lpstr>
      <vt:lpstr>Cambria</vt:lpstr>
      <vt:lpstr>Office Theme</vt:lpstr>
      <vt:lpstr>REAL TIME WEATHER MONITORING SYSTEM  BY SARVESHWARAN V (RA2311017010006) SOHAN SIDHAARTH PRASAD(RA2311017010013) 3rd year  </vt:lpstr>
      <vt:lpstr>Problem Statement &amp; Objectives</vt:lpstr>
      <vt:lpstr>Abstract</vt:lpstr>
      <vt:lpstr>Literature Review</vt:lpstr>
      <vt:lpstr>Methodology- Block Diagram</vt:lpstr>
      <vt:lpstr>Algorithm</vt:lpstr>
      <vt:lpstr>Processor &amp; Components Specification </vt:lpstr>
      <vt:lpstr>References </vt:lpstr>
      <vt:lpstr>Result Images</vt:lpstr>
      <vt:lpstr>Observed Readings</vt:lpstr>
      <vt:lpstr>Result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 Jeba Kumar J 100366</dc:creator>
  <cp:lastModifiedBy>sarveshanand2208@gmail.com</cp:lastModifiedBy>
  <cp:revision>8</cp:revision>
  <dcterms:created xsi:type="dcterms:W3CDTF">2025-08-18T02:36:19Z</dcterms:created>
  <dcterms:modified xsi:type="dcterms:W3CDTF">2025-11-08T16:39:39Z</dcterms:modified>
</cp:coreProperties>
</file>